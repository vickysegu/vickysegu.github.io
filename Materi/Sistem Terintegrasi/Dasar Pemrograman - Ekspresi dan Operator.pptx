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5" autoAdjust="0"/>
    <p:restoredTop sz="94660"/>
  </p:normalViewPr>
  <p:slideViewPr>
    <p:cSldViewPr snapToGrid="0">
      <p:cViewPr varScale="1">
        <p:scale>
          <a:sx n="60" d="100"/>
          <a:sy n="60" d="100"/>
        </p:scale>
        <p:origin x="58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B7FA-C890-4BB8-B632-384B4F9E935E}" type="datetimeFigureOut">
              <a:rPr lang="en-ID" smtClean="0"/>
              <a:t>07/11/2025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489AF-709C-46B0-B9C8-FE599F7578E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5833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B7FA-C890-4BB8-B632-384B4F9E935E}" type="datetimeFigureOut">
              <a:rPr lang="en-ID" smtClean="0"/>
              <a:t>07/11/2025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489AF-709C-46B0-B9C8-FE599F7578E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0212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B7FA-C890-4BB8-B632-384B4F9E935E}" type="datetimeFigureOut">
              <a:rPr lang="en-ID" smtClean="0"/>
              <a:t>07/11/2025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489AF-709C-46B0-B9C8-FE599F7578E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40905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B7FA-C890-4BB8-B632-384B4F9E935E}" type="datetimeFigureOut">
              <a:rPr lang="en-ID" smtClean="0"/>
              <a:t>07/11/2025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489AF-709C-46B0-B9C8-FE599F7578E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056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B7FA-C890-4BB8-B632-384B4F9E935E}" type="datetimeFigureOut">
              <a:rPr lang="en-ID" smtClean="0"/>
              <a:t>07/11/2025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489AF-709C-46B0-B9C8-FE599F7578E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59181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B7FA-C890-4BB8-B632-384B4F9E935E}" type="datetimeFigureOut">
              <a:rPr lang="en-ID" smtClean="0"/>
              <a:t>07/11/2025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489AF-709C-46B0-B9C8-FE599F7578E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5809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B7FA-C890-4BB8-B632-384B4F9E935E}" type="datetimeFigureOut">
              <a:rPr lang="en-ID" smtClean="0"/>
              <a:t>07/11/2025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489AF-709C-46B0-B9C8-FE599F7578E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49304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B7FA-C890-4BB8-B632-384B4F9E935E}" type="datetimeFigureOut">
              <a:rPr lang="en-ID" smtClean="0"/>
              <a:t>07/11/2025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489AF-709C-46B0-B9C8-FE599F7578E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76081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B7FA-C890-4BB8-B632-384B4F9E935E}" type="datetimeFigureOut">
              <a:rPr lang="en-ID" smtClean="0"/>
              <a:t>07/11/2025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489AF-709C-46B0-B9C8-FE599F7578E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21189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B7FA-C890-4BB8-B632-384B4F9E935E}" type="datetimeFigureOut">
              <a:rPr lang="en-ID" smtClean="0"/>
              <a:t>07/11/2025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489AF-709C-46B0-B9C8-FE599F7578E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24965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EB7FA-C890-4BB8-B632-384B4F9E935E}" type="datetimeFigureOut">
              <a:rPr lang="en-ID" smtClean="0"/>
              <a:t>07/11/2025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8489AF-709C-46B0-B9C8-FE599F7578E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1288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4EB7FA-C890-4BB8-B632-384B4F9E935E}" type="datetimeFigureOut">
              <a:rPr lang="en-ID" smtClean="0"/>
              <a:t>07/11/2025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489AF-709C-46B0-B9C8-FE599F7578E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5171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1C0DD-518F-71B1-7FC0-0EF3209BBF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Algoritma</a:t>
            </a:r>
            <a:r>
              <a:rPr lang="en-US" dirty="0"/>
              <a:t> dan </a:t>
            </a:r>
            <a:r>
              <a:rPr lang="en-US" dirty="0" err="1"/>
              <a:t>Pemrograman</a:t>
            </a:r>
            <a:r>
              <a:rPr lang="en-US" dirty="0"/>
              <a:t> II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0E36A6-8A41-C81F-01D1-72674D324F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Ekspresi</a:t>
            </a:r>
            <a:r>
              <a:rPr lang="en-US" dirty="0"/>
              <a:t> dan operator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585798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A3BFA-E6A4-1AD2-1776-A18E8D6C6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Ekspresi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3B71E-9B22-0806-5F2E-736083977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Ekspresi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ungkapan</a:t>
            </a:r>
            <a:r>
              <a:rPr lang="en-US" dirty="0"/>
              <a:t> </a:t>
            </a:r>
            <a:r>
              <a:rPr lang="en-US" dirty="0" err="1"/>
              <a:t>merupakan</a:t>
            </a:r>
            <a:r>
              <a:rPr lang="en-US" dirty="0"/>
              <a:t> statement program yang </a:t>
            </a:r>
            <a:r>
              <a:rPr lang="en-US" dirty="0" err="1"/>
              <a:t>mempunyai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. </a:t>
            </a:r>
            <a:r>
              <a:rPr lang="en-US" dirty="0" err="1"/>
              <a:t>Ekspresi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Bahasa C++ pada </a:t>
            </a:r>
            <a:r>
              <a:rPr lang="en-US" dirty="0" err="1"/>
              <a:t>umumnya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berupa</a:t>
            </a:r>
            <a:r>
              <a:rPr lang="en-US" dirty="0"/>
              <a:t> </a:t>
            </a:r>
            <a:r>
              <a:rPr lang="en-US" dirty="0" err="1"/>
              <a:t>pengenal</a:t>
            </a:r>
            <a:r>
              <a:rPr lang="en-US" dirty="0"/>
              <a:t> (variable), </a:t>
            </a:r>
            <a:r>
              <a:rPr lang="en-US" dirty="0" err="1"/>
              <a:t>konstanta</a:t>
            </a:r>
            <a:r>
              <a:rPr lang="en-US" dirty="0"/>
              <a:t>, dan </a:t>
            </a:r>
            <a:r>
              <a:rPr lang="en-US" dirty="0" err="1"/>
              <a:t>kombinasi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</a:t>
            </a:r>
            <a:r>
              <a:rPr lang="en-US" dirty="0" err="1"/>
              <a:t>pengenal</a:t>
            </a:r>
            <a:r>
              <a:rPr lang="en-US" dirty="0"/>
              <a:t> dan </a:t>
            </a:r>
            <a:r>
              <a:rPr lang="en-US" dirty="0" err="1"/>
              <a:t>konstanta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operator</a:t>
            </a:r>
          </a:p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ekspresi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A=5;</a:t>
            </a:r>
          </a:p>
          <a:p>
            <a:pPr lvl="1"/>
            <a:r>
              <a:rPr lang="en-US" dirty="0"/>
              <a:t>B=A-3</a:t>
            </a:r>
          </a:p>
          <a:p>
            <a:pPr lvl="1"/>
            <a:r>
              <a:rPr lang="en-US" dirty="0"/>
              <a:t>C=A*B</a:t>
            </a:r>
          </a:p>
          <a:p>
            <a:pPr lvl="1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1156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76415-BAD1-4EBB-82F2-F4D5E2AF3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8E178-DA7F-1FD0-5147-0ABF371F42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Merupakan</a:t>
            </a:r>
            <a:r>
              <a:rPr lang="en-US" dirty="0"/>
              <a:t> symbol yang </a:t>
            </a:r>
            <a:r>
              <a:rPr lang="en-US" dirty="0" err="1"/>
              <a:t>digunakan</a:t>
            </a:r>
            <a:r>
              <a:rPr lang="en-US" dirty="0"/>
              <a:t> program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melakukan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</a:t>
            </a:r>
            <a:r>
              <a:rPr lang="en-US" dirty="0" err="1"/>
              <a:t>operasi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manipulasi</a:t>
            </a:r>
            <a:r>
              <a:rPr lang="en-US" dirty="0"/>
              <a:t> data. </a:t>
            </a:r>
            <a:r>
              <a:rPr lang="en-US" dirty="0" err="1"/>
              <a:t>Misalnya</a:t>
            </a:r>
            <a:r>
              <a:rPr lang="en-US" dirty="0"/>
              <a:t> </a:t>
            </a:r>
            <a:r>
              <a:rPr lang="en-US" dirty="0" err="1"/>
              <a:t>seperti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Menjumlahkan</a:t>
            </a:r>
            <a:r>
              <a:rPr lang="en-US" dirty="0"/>
              <a:t> dua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nilai</a:t>
            </a:r>
            <a:endParaRPr lang="en-US" dirty="0"/>
          </a:p>
          <a:p>
            <a:pPr lvl="1"/>
            <a:r>
              <a:rPr lang="en-US" dirty="0" err="1"/>
              <a:t>Memberikan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variable</a:t>
            </a:r>
          </a:p>
          <a:p>
            <a:pPr lvl="1"/>
            <a:r>
              <a:rPr lang="en-US" dirty="0" err="1"/>
              <a:t>Membandingkan</a:t>
            </a:r>
            <a:r>
              <a:rPr lang="en-US" dirty="0"/>
              <a:t> </a:t>
            </a:r>
            <a:r>
              <a:rPr lang="en-US" dirty="0" err="1"/>
              <a:t>kesamaan</a:t>
            </a:r>
            <a:r>
              <a:rPr lang="en-US" dirty="0"/>
              <a:t> dua </a:t>
            </a:r>
            <a:r>
              <a:rPr lang="en-US" dirty="0" err="1"/>
              <a:t>buah</a:t>
            </a:r>
            <a:r>
              <a:rPr lang="en-US" dirty="0"/>
              <a:t> </a:t>
            </a:r>
            <a:r>
              <a:rPr lang="en-US" dirty="0" err="1"/>
              <a:t>nilai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809335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DA9E5-7B10-9301-3C30-067922CFB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A78E3-882D-7FE5-34E2-E23387686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 fontScale="85000" lnSpcReduction="20000"/>
          </a:bodyPr>
          <a:lstStyle/>
          <a:p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banyaknya</a:t>
            </a:r>
            <a:r>
              <a:rPr lang="en-ID" dirty="0"/>
              <a:t> operand yang </a:t>
            </a:r>
            <a:r>
              <a:rPr lang="en-ID" dirty="0" err="1"/>
              <a:t>dilibatkan</a:t>
            </a:r>
            <a:r>
              <a:rPr lang="en-ID" dirty="0"/>
              <a:t>, operator </a:t>
            </a:r>
            <a:r>
              <a:rPr lang="en-ID" dirty="0" err="1"/>
              <a:t>mempunyai</a:t>
            </a:r>
            <a:r>
              <a:rPr lang="en-ID" dirty="0"/>
              <a:t> </a:t>
            </a:r>
            <a:r>
              <a:rPr lang="en-ID" dirty="0" err="1"/>
              <a:t>sifat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berikut</a:t>
            </a:r>
            <a:r>
              <a:rPr lang="en-ID" dirty="0"/>
              <a:t>:</a:t>
            </a:r>
          </a:p>
          <a:p>
            <a:r>
              <a:rPr lang="en-ID" b="1" dirty="0"/>
              <a:t>Unary</a:t>
            </a:r>
          </a:p>
          <a:p>
            <a:pPr lvl="1"/>
            <a:r>
              <a:rPr lang="en-ID" dirty="0"/>
              <a:t>Operator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melibatkan</a:t>
            </a:r>
            <a:r>
              <a:rPr lang="en-ID" dirty="0"/>
              <a:t> </a:t>
            </a:r>
            <a:r>
              <a:rPr lang="en-ID" dirty="0" err="1"/>
              <a:t>sebuah</a:t>
            </a:r>
            <a:r>
              <a:rPr lang="en-ID" dirty="0"/>
              <a:t> operand.</a:t>
            </a:r>
          </a:p>
          <a:p>
            <a:pPr lvl="2"/>
            <a:r>
              <a:rPr lang="en-ID" dirty="0" err="1"/>
              <a:t>Contoh</a:t>
            </a:r>
            <a:r>
              <a:rPr lang="en-ID" dirty="0"/>
              <a:t>:-1</a:t>
            </a:r>
          </a:p>
          <a:p>
            <a:r>
              <a:rPr lang="en-ID" b="1" dirty="0"/>
              <a:t>Binary</a:t>
            </a:r>
          </a:p>
          <a:p>
            <a:pPr lvl="1"/>
            <a:r>
              <a:rPr lang="en-ID" dirty="0"/>
              <a:t>Operator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melibatkan</a:t>
            </a:r>
            <a:r>
              <a:rPr lang="en-ID" dirty="0"/>
              <a:t> dua </a:t>
            </a:r>
            <a:r>
              <a:rPr lang="en-ID" dirty="0" err="1"/>
              <a:t>buah</a:t>
            </a:r>
            <a:r>
              <a:rPr lang="en-ID" dirty="0"/>
              <a:t> operand.</a:t>
            </a:r>
          </a:p>
          <a:p>
            <a:pPr lvl="2"/>
            <a:r>
              <a:rPr lang="en-ID" dirty="0" err="1"/>
              <a:t>Contoh</a:t>
            </a:r>
            <a:r>
              <a:rPr lang="en-ID" dirty="0"/>
              <a:t>:-1+2</a:t>
            </a:r>
          </a:p>
          <a:p>
            <a:r>
              <a:rPr lang="en-ID" b="1" dirty="0"/>
              <a:t>Ternary</a:t>
            </a:r>
          </a:p>
          <a:p>
            <a:pPr lvl="1"/>
            <a:r>
              <a:rPr lang="en-ID" dirty="0"/>
              <a:t>Operator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melibatkan</a:t>
            </a:r>
            <a:r>
              <a:rPr lang="en-ID" dirty="0"/>
              <a:t> </a:t>
            </a:r>
            <a:r>
              <a:rPr lang="en-ID" dirty="0" err="1"/>
              <a:t>tiga</a:t>
            </a:r>
            <a:r>
              <a:rPr lang="en-ID" dirty="0"/>
              <a:t> </a:t>
            </a:r>
            <a:r>
              <a:rPr lang="en-ID" dirty="0" err="1"/>
              <a:t>buah</a:t>
            </a:r>
            <a:r>
              <a:rPr lang="en-ID" dirty="0"/>
              <a:t> operand.</a:t>
            </a:r>
          </a:p>
          <a:p>
            <a:pPr lvl="2"/>
            <a:r>
              <a:rPr lang="en-ID" dirty="0" err="1"/>
              <a:t>Contoh</a:t>
            </a:r>
            <a:r>
              <a:rPr lang="en-ID" dirty="0"/>
              <a:t>: (-1+2)*3</a:t>
            </a:r>
          </a:p>
          <a:p>
            <a:pPr lvl="2"/>
            <a:endParaRPr lang="en-ID" dirty="0"/>
          </a:p>
          <a:p>
            <a:r>
              <a:rPr lang="en-ID" b="1" dirty="0"/>
              <a:t>n-</a:t>
            </a:r>
            <a:r>
              <a:rPr lang="en-ID" b="1" dirty="0" err="1"/>
              <a:t>ary</a:t>
            </a:r>
            <a:endParaRPr lang="en-ID" b="1" dirty="0"/>
          </a:p>
          <a:p>
            <a:pPr lvl="1"/>
            <a:r>
              <a:rPr lang="en-ID" dirty="0"/>
              <a:t>Operator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melibatkan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tiga</a:t>
            </a:r>
            <a:r>
              <a:rPr lang="en-ID" dirty="0"/>
              <a:t> </a:t>
            </a:r>
            <a:r>
              <a:rPr lang="en-ID" dirty="0" err="1"/>
              <a:t>buah</a:t>
            </a:r>
            <a:r>
              <a:rPr lang="en-ID" dirty="0"/>
              <a:t> operand.</a:t>
            </a:r>
          </a:p>
          <a:p>
            <a:pPr lvl="2"/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C40816-29CA-5C5C-F262-825C0ED4B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858" y="3054945"/>
            <a:ext cx="2867585" cy="194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5419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6BA65-3388-482E-145E-B2FB233AF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810E79-E233-0160-40A8-E80E9A318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Macam-macam</a:t>
            </a:r>
            <a:r>
              <a:rPr lang="en-US" dirty="0"/>
              <a:t> operator</a:t>
            </a:r>
          </a:p>
          <a:p>
            <a:r>
              <a:rPr lang="en-ID" dirty="0"/>
              <a:t>Operator </a:t>
            </a:r>
            <a:r>
              <a:rPr lang="en-ID" dirty="0" err="1"/>
              <a:t>Aritmatika</a:t>
            </a:r>
            <a:r>
              <a:rPr lang="en-ID" dirty="0"/>
              <a:t> </a:t>
            </a:r>
          </a:p>
          <a:p>
            <a:r>
              <a:rPr lang="en-ID" dirty="0"/>
              <a:t>Operator </a:t>
            </a:r>
            <a:r>
              <a:rPr lang="en-ID" dirty="0" err="1"/>
              <a:t>Penugasan</a:t>
            </a:r>
            <a:r>
              <a:rPr lang="en-ID" dirty="0"/>
              <a:t> </a:t>
            </a:r>
          </a:p>
          <a:p>
            <a:r>
              <a:rPr lang="en-ID" dirty="0"/>
              <a:t>Operator </a:t>
            </a:r>
            <a:r>
              <a:rPr lang="en-ID" dirty="0" err="1"/>
              <a:t>Pembanding</a:t>
            </a:r>
            <a:r>
              <a:rPr lang="en-ID" dirty="0"/>
              <a:t> </a:t>
            </a:r>
          </a:p>
          <a:p>
            <a:r>
              <a:rPr lang="en-ID" dirty="0"/>
              <a:t>Operator </a:t>
            </a:r>
            <a:r>
              <a:rPr lang="en-ID" dirty="0" err="1"/>
              <a:t>Logika</a:t>
            </a:r>
            <a:r>
              <a:rPr lang="en-ID" dirty="0"/>
              <a:t> </a:t>
            </a:r>
          </a:p>
          <a:p>
            <a:r>
              <a:rPr lang="en-ID" dirty="0"/>
              <a:t>Operator Bitwise </a:t>
            </a:r>
          </a:p>
        </p:txBody>
      </p:sp>
    </p:spTree>
    <p:extLst>
      <p:ext uri="{BB962C8B-B14F-4D97-AF65-F5344CB8AC3E}">
        <p14:creationId xmlns:p14="http://schemas.microsoft.com/office/powerpoint/2010/main" val="504976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05A8-1177-4798-993E-1114083EF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</a:t>
            </a:r>
            <a:r>
              <a:rPr lang="en-US" dirty="0" err="1"/>
              <a:t>Aritmatika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94606-CFFD-2592-C843-9F96F7AB8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dirty="0"/>
              <a:t>Operator </a:t>
            </a:r>
            <a:r>
              <a:rPr lang="en-ID" dirty="0" err="1"/>
              <a:t>aritmatika</a:t>
            </a:r>
            <a:r>
              <a:rPr lang="en-ID" dirty="0"/>
              <a:t> </a:t>
            </a:r>
            <a:r>
              <a:rPr lang="en-ID" dirty="0" err="1"/>
              <a:t>merupakan</a:t>
            </a:r>
            <a:r>
              <a:rPr lang="en-ID" dirty="0"/>
              <a:t> operator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operasi</a:t>
            </a:r>
            <a:r>
              <a:rPr lang="en-ID" dirty="0"/>
              <a:t> </a:t>
            </a:r>
            <a:r>
              <a:rPr lang="en-ID" dirty="0" err="1"/>
              <a:t>aritmatika</a:t>
            </a:r>
            <a:r>
              <a:rPr lang="en-ID" dirty="0"/>
              <a:t>. </a:t>
            </a:r>
          </a:p>
          <a:p>
            <a:r>
              <a:rPr lang="en-ID" dirty="0"/>
              <a:t>Operator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terdiri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:</a:t>
            </a:r>
          </a:p>
          <a:p>
            <a:pPr lvl="1"/>
            <a:r>
              <a:rPr lang="en-ID" dirty="0" err="1"/>
              <a:t>Penjumlahan</a:t>
            </a:r>
            <a:r>
              <a:rPr lang="en-ID" dirty="0"/>
              <a:t>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</a:t>
            </a:r>
            <a:r>
              <a:rPr lang="en-ID" b="1" dirty="0"/>
              <a:t>+ </a:t>
            </a:r>
            <a:r>
              <a:rPr lang="en-ID" dirty="0"/>
              <a:t>)</a:t>
            </a:r>
          </a:p>
          <a:p>
            <a:pPr lvl="1"/>
            <a:r>
              <a:rPr lang="en-ID" dirty="0" err="1"/>
              <a:t>Pengurangan</a:t>
            </a:r>
            <a:r>
              <a:rPr lang="en-ID" dirty="0"/>
              <a:t>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- )</a:t>
            </a:r>
          </a:p>
          <a:p>
            <a:pPr lvl="1"/>
            <a:r>
              <a:rPr lang="en-ID" dirty="0" err="1"/>
              <a:t>Perkalian</a:t>
            </a:r>
            <a:r>
              <a:rPr lang="en-ID" dirty="0"/>
              <a:t>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 </a:t>
            </a:r>
            <a:r>
              <a:rPr lang="en-ID" b="1" dirty="0"/>
              <a:t>* </a:t>
            </a:r>
            <a:r>
              <a:rPr lang="en-ID" dirty="0"/>
              <a:t>)</a:t>
            </a:r>
          </a:p>
          <a:p>
            <a:pPr lvl="1"/>
            <a:r>
              <a:rPr lang="en-ID" dirty="0" err="1"/>
              <a:t>Pembagian</a:t>
            </a:r>
            <a:r>
              <a:rPr lang="en-ID" dirty="0"/>
              <a:t>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 </a:t>
            </a:r>
            <a:r>
              <a:rPr lang="en-ID" b="1" dirty="0"/>
              <a:t>/</a:t>
            </a:r>
            <a:r>
              <a:rPr lang="en-ID" dirty="0"/>
              <a:t> )</a:t>
            </a:r>
          </a:p>
          <a:p>
            <a:pPr lvl="1"/>
            <a:r>
              <a:rPr lang="en-ID" dirty="0" err="1"/>
              <a:t>Sisa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(</a:t>
            </a:r>
            <a:r>
              <a:rPr lang="en-ID" i="1" dirty="0"/>
              <a:t>modulus</a:t>
            </a:r>
            <a:r>
              <a:rPr lang="en-ID" dirty="0"/>
              <a:t>)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 </a:t>
            </a:r>
            <a:r>
              <a:rPr lang="en-ID" b="1" dirty="0"/>
              <a:t>% </a:t>
            </a:r>
            <a:r>
              <a:rPr lang="en-ID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4400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FB5F7-28B6-9BB8-F611-8A504C19F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 dirty="0"/>
              <a:t> operator </a:t>
            </a:r>
            <a:r>
              <a:rPr lang="en-US" dirty="0" err="1"/>
              <a:t>aritmatika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7A290-D703-FB41-E14B-FC2B40E08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825625"/>
            <a:ext cx="8246409" cy="4862046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#include &lt;iostream&gt;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using namespace std;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int main(){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int a, b, c; 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</a:t>
            </a:r>
            <a:r>
              <a:rPr lang="en-US" dirty="0" err="1">
                <a:latin typeface="Consolas" panose="020B0609020204030204" pitchFamily="49" charset="0"/>
              </a:rPr>
              <a:t>Inputkan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nilai</a:t>
            </a:r>
            <a:r>
              <a:rPr lang="en-US" dirty="0">
                <a:latin typeface="Consolas" panose="020B0609020204030204" pitchFamily="49" charset="0"/>
              </a:rPr>
              <a:t> a: ";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cin</a:t>
            </a:r>
            <a:r>
              <a:rPr lang="en-US" dirty="0">
                <a:latin typeface="Consolas" panose="020B0609020204030204" pitchFamily="49" charset="0"/>
              </a:rPr>
              <a:t> &gt;&gt; a;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</a:t>
            </a:r>
            <a:r>
              <a:rPr lang="en-US" dirty="0" err="1">
                <a:latin typeface="Consolas" panose="020B0609020204030204" pitchFamily="49" charset="0"/>
              </a:rPr>
              <a:t>Inputkan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</a:rPr>
              <a:t>nilai</a:t>
            </a:r>
            <a:r>
              <a:rPr lang="en-US" dirty="0">
                <a:latin typeface="Consolas" panose="020B0609020204030204" pitchFamily="49" charset="0"/>
              </a:rPr>
              <a:t> b: "; 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cin</a:t>
            </a:r>
            <a:r>
              <a:rPr lang="en-US" dirty="0">
                <a:latin typeface="Consolas" panose="020B0609020204030204" pitchFamily="49" charset="0"/>
              </a:rPr>
              <a:t> &gt;&gt; b; </a:t>
            </a:r>
            <a:endParaRPr lang="en-US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// </a:t>
            </a:r>
            <a:r>
              <a:rPr lang="en-US" b="1" dirty="0" err="1">
                <a:latin typeface="Consolas" panose="020B0609020204030204" pitchFamily="49" charset="0"/>
              </a:rPr>
              <a:t>menggunakan</a:t>
            </a:r>
            <a:r>
              <a:rPr lang="en-US" b="1" dirty="0">
                <a:latin typeface="Consolas" panose="020B0609020204030204" pitchFamily="49" charset="0"/>
              </a:rPr>
              <a:t> operator </a:t>
            </a:r>
            <a:r>
              <a:rPr lang="en-US" b="1" dirty="0" err="1">
                <a:latin typeface="Consolas" panose="020B0609020204030204" pitchFamily="49" charset="0"/>
              </a:rPr>
              <a:t>penjumlahan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b="1" dirty="0">
                <a:latin typeface="Consolas" panose="020B0609020204030204" pitchFamily="49" charset="0"/>
              </a:rPr>
              <a:t>c = a + b;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"Hasil a + b = " &lt;&lt; c &lt;&lt; </a:t>
            </a:r>
            <a:r>
              <a:rPr lang="en-US" dirty="0" err="1">
                <a:latin typeface="Consolas" panose="020B0609020204030204" pitchFamily="49" charset="0"/>
              </a:rPr>
              <a:t>endl</a:t>
            </a:r>
            <a:r>
              <a:rPr lang="en-US" dirty="0"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return 0;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}</a:t>
            </a:r>
            <a:endParaRPr lang="en-ID" dirty="0">
              <a:latin typeface="Consolas" panose="020B0609020204030204" pitchFamily="49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2D07EA-F828-649C-EA98-32FA98F0D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4313" y="1690689"/>
            <a:ext cx="3504879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16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FDCB3-361B-6DF3-B803-A57738A6E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</a:t>
            </a:r>
            <a:r>
              <a:rPr lang="en-US" dirty="0" err="1"/>
              <a:t>Penugasan</a:t>
            </a:r>
            <a:r>
              <a:rPr lang="en-US" dirty="0"/>
              <a:t> (Assignment Operator)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AE3B4-5F91-A418-01DF-67BE722B8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8318126" cy="5032376"/>
          </a:xfrm>
        </p:spPr>
        <p:txBody>
          <a:bodyPr>
            <a:normAutofit fontScale="92500" lnSpcReduction="20000"/>
          </a:bodyPr>
          <a:lstStyle/>
          <a:p>
            <a:r>
              <a:rPr lang="en-ID" dirty="0"/>
              <a:t>Operator </a:t>
            </a:r>
            <a:r>
              <a:rPr lang="en-ID" dirty="0" err="1"/>
              <a:t>penugasan</a:t>
            </a:r>
            <a:r>
              <a:rPr lang="en-ID" dirty="0"/>
              <a:t> (Assignment Operator) </a:t>
            </a:r>
            <a:r>
              <a:rPr lang="en-ID" dirty="0" err="1"/>
              <a:t>merupakan</a:t>
            </a:r>
            <a:r>
              <a:rPr lang="en-ID" dirty="0"/>
              <a:t> operator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meberikan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 pada </a:t>
            </a:r>
            <a:r>
              <a:rPr lang="en-ID" dirty="0" err="1"/>
              <a:t>variabel</a:t>
            </a:r>
            <a:r>
              <a:rPr lang="en-ID" dirty="0"/>
              <a:t>. </a:t>
            </a:r>
            <a:r>
              <a:rPr lang="en-ID" dirty="0" err="1"/>
              <a:t>Biasanya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mengisi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.</a:t>
            </a:r>
          </a:p>
          <a:p>
            <a:r>
              <a:rPr lang="en-ID" dirty="0"/>
              <a:t>Operator </a:t>
            </a:r>
            <a:r>
              <a:rPr lang="en-ID" dirty="0" err="1"/>
              <a:t>Penugasan</a:t>
            </a:r>
            <a:r>
              <a:rPr lang="en-ID" dirty="0"/>
              <a:t> </a:t>
            </a:r>
            <a:r>
              <a:rPr lang="en-ID" dirty="0" err="1"/>
              <a:t>terdiri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:</a:t>
            </a:r>
          </a:p>
          <a:p>
            <a:pPr lvl="1"/>
            <a:r>
              <a:rPr lang="en-ID" dirty="0" err="1"/>
              <a:t>Pengisian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</a:t>
            </a:r>
            <a:r>
              <a:rPr lang="en-ID" b="1" dirty="0"/>
              <a:t>=</a:t>
            </a:r>
            <a:r>
              <a:rPr lang="en-ID" dirty="0"/>
              <a:t>)</a:t>
            </a:r>
          </a:p>
          <a:p>
            <a:pPr lvl="1"/>
            <a:r>
              <a:rPr lang="en-ID" dirty="0" err="1"/>
              <a:t>Pengisian</a:t>
            </a:r>
            <a:r>
              <a:rPr lang="en-ID" dirty="0"/>
              <a:t> dan </a:t>
            </a:r>
            <a:r>
              <a:rPr lang="en-ID" dirty="0" err="1"/>
              <a:t>penambahan</a:t>
            </a:r>
            <a:r>
              <a:rPr lang="en-ID" dirty="0"/>
              <a:t>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 </a:t>
            </a:r>
            <a:r>
              <a:rPr lang="en-ID" b="1" dirty="0"/>
              <a:t>+=</a:t>
            </a:r>
            <a:r>
              <a:rPr lang="en-ID" dirty="0"/>
              <a:t>)</a:t>
            </a:r>
          </a:p>
          <a:p>
            <a:pPr lvl="1"/>
            <a:r>
              <a:rPr lang="en-ID" dirty="0" err="1"/>
              <a:t>Pengisian</a:t>
            </a:r>
            <a:r>
              <a:rPr lang="en-ID" dirty="0"/>
              <a:t> dan </a:t>
            </a:r>
            <a:r>
              <a:rPr lang="en-ID" dirty="0" err="1"/>
              <a:t>pengurangan</a:t>
            </a:r>
            <a:r>
              <a:rPr lang="en-ID" dirty="0"/>
              <a:t>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</a:t>
            </a:r>
            <a:r>
              <a:rPr lang="en-ID" b="1" dirty="0"/>
              <a:t> -=</a:t>
            </a:r>
            <a:r>
              <a:rPr lang="en-ID" dirty="0"/>
              <a:t>)</a:t>
            </a:r>
          </a:p>
          <a:p>
            <a:pPr lvl="1"/>
            <a:r>
              <a:rPr lang="en-ID" dirty="0" err="1"/>
              <a:t>Pengisian</a:t>
            </a:r>
            <a:r>
              <a:rPr lang="en-ID" dirty="0"/>
              <a:t> dan </a:t>
            </a:r>
            <a:r>
              <a:rPr lang="en-ID" dirty="0" err="1"/>
              <a:t>perkalian</a:t>
            </a:r>
            <a:r>
              <a:rPr lang="en-ID" dirty="0"/>
              <a:t>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</a:t>
            </a:r>
            <a:r>
              <a:rPr lang="en-ID" b="1" dirty="0"/>
              <a:t>*= </a:t>
            </a:r>
            <a:r>
              <a:rPr lang="en-ID" dirty="0"/>
              <a:t>)</a:t>
            </a:r>
          </a:p>
          <a:p>
            <a:pPr lvl="1"/>
            <a:r>
              <a:rPr lang="en-ID" dirty="0" err="1"/>
              <a:t>Pengisian</a:t>
            </a:r>
            <a:r>
              <a:rPr lang="en-ID" dirty="0"/>
              <a:t> dan </a:t>
            </a:r>
            <a:r>
              <a:rPr lang="en-ID" dirty="0" err="1"/>
              <a:t>pembagian</a:t>
            </a:r>
            <a:r>
              <a:rPr lang="en-ID" dirty="0"/>
              <a:t>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</a:t>
            </a:r>
            <a:r>
              <a:rPr lang="en-ID" b="1" dirty="0"/>
              <a:t>/= </a:t>
            </a:r>
            <a:r>
              <a:rPr lang="en-ID" dirty="0"/>
              <a:t>)</a:t>
            </a:r>
          </a:p>
          <a:p>
            <a:pPr lvl="1"/>
            <a:r>
              <a:rPr lang="en-ID" dirty="0" err="1"/>
              <a:t>Pengisian</a:t>
            </a:r>
            <a:r>
              <a:rPr lang="en-ID" dirty="0"/>
              <a:t> dan </a:t>
            </a:r>
            <a:r>
              <a:rPr lang="en-ID" dirty="0" err="1"/>
              <a:t>sisa</a:t>
            </a:r>
            <a:r>
              <a:rPr lang="en-ID" dirty="0"/>
              <a:t> </a:t>
            </a:r>
            <a:r>
              <a:rPr lang="en-ID" dirty="0" err="1"/>
              <a:t>bagi</a:t>
            </a:r>
            <a:r>
              <a:rPr lang="en-ID" dirty="0"/>
              <a:t>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</a:t>
            </a:r>
            <a:r>
              <a:rPr lang="en-ID" b="1" dirty="0"/>
              <a:t>%= </a:t>
            </a:r>
            <a:r>
              <a:rPr lang="en-ID" dirty="0"/>
              <a:t>)</a:t>
            </a:r>
          </a:p>
          <a:p>
            <a:pPr lvl="1"/>
            <a:r>
              <a:rPr lang="en-ID" dirty="0" err="1"/>
              <a:t>Pengisian</a:t>
            </a:r>
            <a:r>
              <a:rPr lang="en-ID" dirty="0"/>
              <a:t> dan shift left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</a:t>
            </a:r>
            <a:r>
              <a:rPr lang="en-ID" b="1" dirty="0"/>
              <a:t>&lt;&lt;=</a:t>
            </a:r>
            <a:r>
              <a:rPr lang="en-ID" dirty="0"/>
              <a:t> )</a:t>
            </a:r>
          </a:p>
          <a:p>
            <a:pPr lvl="1"/>
            <a:r>
              <a:rPr lang="en-ID" dirty="0" err="1"/>
              <a:t>Pengisian</a:t>
            </a:r>
            <a:r>
              <a:rPr lang="en-ID" dirty="0"/>
              <a:t> dan shift right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</a:t>
            </a:r>
            <a:r>
              <a:rPr lang="en-ID" b="1" dirty="0"/>
              <a:t>&gt;&gt;= </a:t>
            </a:r>
            <a:r>
              <a:rPr lang="en-ID" dirty="0"/>
              <a:t>)</a:t>
            </a:r>
          </a:p>
          <a:p>
            <a:pPr lvl="1"/>
            <a:r>
              <a:rPr lang="en-ID" dirty="0" err="1"/>
              <a:t>Pengisian</a:t>
            </a:r>
            <a:r>
              <a:rPr lang="en-ID" dirty="0"/>
              <a:t> dan bitwise AND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</a:t>
            </a:r>
            <a:r>
              <a:rPr lang="en-ID" b="1" dirty="0"/>
              <a:t>&amp;= </a:t>
            </a:r>
            <a:r>
              <a:rPr lang="en-ID" dirty="0"/>
              <a:t>)</a:t>
            </a:r>
          </a:p>
          <a:p>
            <a:pPr lvl="1"/>
            <a:r>
              <a:rPr lang="en-ID" dirty="0" err="1"/>
              <a:t>Pengisian</a:t>
            </a:r>
            <a:r>
              <a:rPr lang="en-ID" dirty="0"/>
              <a:t> dan bitwise OR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</a:t>
            </a:r>
            <a:r>
              <a:rPr lang="en-ID" b="1" dirty="0"/>
              <a:t>|= </a:t>
            </a:r>
            <a:r>
              <a:rPr lang="en-ID" dirty="0"/>
              <a:t>)</a:t>
            </a:r>
          </a:p>
          <a:p>
            <a:pPr lvl="1"/>
            <a:r>
              <a:rPr lang="en-ID" dirty="0" err="1"/>
              <a:t>Pengisian</a:t>
            </a:r>
            <a:r>
              <a:rPr lang="en-ID" dirty="0"/>
              <a:t> dan bitwise XOR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</a:t>
            </a:r>
            <a:r>
              <a:rPr lang="en-ID" b="1" dirty="0"/>
              <a:t>^= </a:t>
            </a:r>
            <a:r>
              <a:rPr lang="en-ID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59981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FB5F7-28B6-9BB8-F611-8A504C19F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49" y="365127"/>
            <a:ext cx="7886701" cy="92579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 dirty="0"/>
              <a:t> operator </a:t>
            </a:r>
            <a:r>
              <a:rPr lang="en-US" dirty="0" err="1"/>
              <a:t>Penugasan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7A290-D703-FB41-E14B-FC2B40E08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506071"/>
            <a:ext cx="8246409" cy="518160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int a, b;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</a:t>
            </a:r>
            <a:r>
              <a:rPr lang="en-US" b="1" dirty="0">
                <a:latin typeface="Consolas" panose="020B0609020204030204" pitchFamily="49" charset="0"/>
              </a:rPr>
              <a:t>// </a:t>
            </a:r>
            <a:r>
              <a:rPr lang="en-US" b="1" dirty="0" err="1">
                <a:latin typeface="Consolas" panose="020B0609020204030204" pitchFamily="49" charset="0"/>
              </a:rPr>
              <a:t>pengisian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nilai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dengan</a:t>
            </a:r>
            <a:r>
              <a:rPr lang="en-US" b="1" dirty="0">
                <a:latin typeface="Consolas" panose="020B0609020204030204" pitchFamily="49" charset="0"/>
              </a:rPr>
              <a:t> operator =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a = 5;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b = 10;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</a:t>
            </a:r>
            <a:r>
              <a:rPr lang="en-US" b="1" dirty="0">
                <a:latin typeface="Consolas" panose="020B0609020204030204" pitchFamily="49" charset="0"/>
              </a:rPr>
              <a:t>// </a:t>
            </a:r>
            <a:r>
              <a:rPr lang="en-US" b="1" dirty="0" err="1">
                <a:latin typeface="Consolas" panose="020B0609020204030204" pitchFamily="49" charset="0"/>
              </a:rPr>
              <a:t>pengisian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sekaligus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penambahan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b += a; </a:t>
            </a:r>
            <a:r>
              <a:rPr lang="en-US" b="1" dirty="0">
                <a:latin typeface="Consolas" panose="020B0609020204030204" pitchFamily="49" charset="0"/>
              </a:rPr>
              <a:t>// </a:t>
            </a:r>
            <a:r>
              <a:rPr lang="en-US" b="1" dirty="0" err="1">
                <a:latin typeface="Consolas" panose="020B0609020204030204" pitchFamily="49" charset="0"/>
              </a:rPr>
              <a:t>ini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sama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seperti</a:t>
            </a:r>
            <a:r>
              <a:rPr lang="en-US" b="1" dirty="0">
                <a:latin typeface="Consolas" panose="020B0609020204030204" pitchFamily="49" charset="0"/>
              </a:rPr>
              <a:t> b = b + a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"Hasil b += a </a:t>
            </a:r>
            <a:r>
              <a:rPr lang="en-US" dirty="0" err="1">
                <a:latin typeface="Consolas" panose="020B0609020204030204" pitchFamily="49" charset="0"/>
              </a:rPr>
              <a:t>adalah</a:t>
            </a:r>
            <a:r>
              <a:rPr lang="en-US" dirty="0">
                <a:latin typeface="Consolas" panose="020B0609020204030204" pitchFamily="49" charset="0"/>
              </a:rPr>
              <a:t> " &lt;&lt; b &lt;&lt; </a:t>
            </a:r>
            <a:r>
              <a:rPr lang="en-US" dirty="0" err="1">
                <a:latin typeface="Consolas" panose="020B0609020204030204" pitchFamily="49" charset="0"/>
              </a:rPr>
              <a:t>endl</a:t>
            </a:r>
            <a:r>
              <a:rPr lang="en-US" dirty="0"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</a:t>
            </a:r>
            <a:r>
              <a:rPr lang="en-US" b="1" dirty="0">
                <a:latin typeface="Consolas" panose="020B0609020204030204" pitchFamily="49" charset="0"/>
              </a:rPr>
              <a:t>// </a:t>
            </a:r>
            <a:r>
              <a:rPr lang="en-US" b="1" dirty="0" err="1">
                <a:latin typeface="Consolas" panose="020B0609020204030204" pitchFamily="49" charset="0"/>
              </a:rPr>
              <a:t>pengisian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sekaligus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pengurangan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b -= a; </a:t>
            </a:r>
            <a:r>
              <a:rPr lang="en-US" b="1" dirty="0">
                <a:latin typeface="Consolas" panose="020B0609020204030204" pitchFamily="49" charset="0"/>
              </a:rPr>
              <a:t>// </a:t>
            </a:r>
            <a:r>
              <a:rPr lang="en-US" b="1" dirty="0" err="1">
                <a:latin typeface="Consolas" panose="020B0609020204030204" pitchFamily="49" charset="0"/>
              </a:rPr>
              <a:t>ini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sama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seperti</a:t>
            </a:r>
            <a:r>
              <a:rPr lang="en-US" b="1" dirty="0">
                <a:latin typeface="Consolas" panose="020B0609020204030204" pitchFamily="49" charset="0"/>
              </a:rPr>
              <a:t> b = b - a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"Hasil b -= a </a:t>
            </a:r>
            <a:r>
              <a:rPr lang="en-US" dirty="0" err="1">
                <a:latin typeface="Consolas" panose="020B0609020204030204" pitchFamily="49" charset="0"/>
              </a:rPr>
              <a:t>adalah</a:t>
            </a:r>
            <a:r>
              <a:rPr lang="en-US" dirty="0">
                <a:latin typeface="Consolas" panose="020B0609020204030204" pitchFamily="49" charset="0"/>
              </a:rPr>
              <a:t> " &lt;&lt; b &lt;&lt; </a:t>
            </a:r>
            <a:r>
              <a:rPr lang="en-US" dirty="0" err="1">
                <a:latin typeface="Consolas" panose="020B0609020204030204" pitchFamily="49" charset="0"/>
              </a:rPr>
              <a:t>endl</a:t>
            </a:r>
            <a:r>
              <a:rPr lang="en-US" dirty="0"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</a:t>
            </a:r>
            <a:r>
              <a:rPr lang="en-US" b="1" dirty="0">
                <a:latin typeface="Consolas" panose="020B0609020204030204" pitchFamily="49" charset="0"/>
              </a:rPr>
              <a:t>// </a:t>
            </a:r>
            <a:r>
              <a:rPr lang="en-US" b="1" dirty="0" err="1">
                <a:latin typeface="Consolas" panose="020B0609020204030204" pitchFamily="49" charset="0"/>
              </a:rPr>
              <a:t>pengisian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sekaligus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perkalian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b *= a; </a:t>
            </a:r>
            <a:r>
              <a:rPr lang="en-US" b="1" dirty="0">
                <a:latin typeface="Consolas" panose="020B0609020204030204" pitchFamily="49" charset="0"/>
              </a:rPr>
              <a:t>// </a:t>
            </a:r>
            <a:r>
              <a:rPr lang="en-US" b="1" dirty="0" err="1">
                <a:latin typeface="Consolas" panose="020B0609020204030204" pitchFamily="49" charset="0"/>
              </a:rPr>
              <a:t>ini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sama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seperti</a:t>
            </a:r>
            <a:r>
              <a:rPr lang="en-US" b="1" dirty="0">
                <a:latin typeface="Consolas" panose="020B0609020204030204" pitchFamily="49" charset="0"/>
              </a:rPr>
              <a:t> b = b * a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"Hasil b *= a </a:t>
            </a:r>
            <a:r>
              <a:rPr lang="en-US" dirty="0" err="1">
                <a:latin typeface="Consolas" panose="020B0609020204030204" pitchFamily="49" charset="0"/>
              </a:rPr>
              <a:t>adalah</a:t>
            </a:r>
            <a:r>
              <a:rPr lang="en-US" dirty="0">
                <a:latin typeface="Consolas" panose="020B0609020204030204" pitchFamily="49" charset="0"/>
              </a:rPr>
              <a:t> " &lt;&lt; b &lt;&lt; </a:t>
            </a:r>
            <a:r>
              <a:rPr lang="en-US" dirty="0" err="1">
                <a:latin typeface="Consolas" panose="020B0609020204030204" pitchFamily="49" charset="0"/>
              </a:rPr>
              <a:t>endl</a:t>
            </a:r>
            <a:r>
              <a:rPr lang="en-US" dirty="0"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 </a:t>
            </a:r>
            <a:r>
              <a:rPr lang="en-US" b="1" dirty="0">
                <a:latin typeface="Consolas" panose="020B0609020204030204" pitchFamily="49" charset="0"/>
              </a:rPr>
              <a:t>// </a:t>
            </a:r>
            <a:r>
              <a:rPr lang="en-US" b="1" dirty="0" err="1">
                <a:latin typeface="Consolas" panose="020B0609020204030204" pitchFamily="49" charset="0"/>
              </a:rPr>
              <a:t>pengisian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sekaligus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pembagian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b /= a; </a:t>
            </a:r>
            <a:r>
              <a:rPr lang="en-US" b="1" dirty="0">
                <a:latin typeface="Consolas" panose="020B0609020204030204" pitchFamily="49" charset="0"/>
              </a:rPr>
              <a:t>// </a:t>
            </a:r>
            <a:r>
              <a:rPr lang="en-US" b="1" dirty="0" err="1">
                <a:latin typeface="Consolas" panose="020B0609020204030204" pitchFamily="49" charset="0"/>
              </a:rPr>
              <a:t>ini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sama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seperti</a:t>
            </a:r>
            <a:r>
              <a:rPr lang="en-US" b="1" dirty="0">
                <a:latin typeface="Consolas" panose="020B0609020204030204" pitchFamily="49" charset="0"/>
              </a:rPr>
              <a:t> b = b / a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"Hasil b /= a </a:t>
            </a:r>
            <a:r>
              <a:rPr lang="en-US" dirty="0" err="1">
                <a:latin typeface="Consolas" panose="020B0609020204030204" pitchFamily="49" charset="0"/>
              </a:rPr>
              <a:t>adalah</a:t>
            </a:r>
            <a:r>
              <a:rPr lang="en-US" dirty="0">
                <a:latin typeface="Consolas" panose="020B0609020204030204" pitchFamily="49" charset="0"/>
              </a:rPr>
              <a:t> " &lt;&lt; b &lt;&lt; </a:t>
            </a:r>
            <a:r>
              <a:rPr lang="en-US" dirty="0" err="1">
                <a:latin typeface="Consolas" panose="020B0609020204030204" pitchFamily="49" charset="0"/>
              </a:rPr>
              <a:t>endl</a:t>
            </a:r>
            <a:r>
              <a:rPr lang="en-US" dirty="0"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ID" dirty="0">
                <a:latin typeface="Consolas" panose="020B0609020204030204" pitchFamily="49" charset="0"/>
              </a:rPr>
              <a:t>    </a:t>
            </a:r>
            <a:r>
              <a:rPr lang="en-ID" b="1" dirty="0">
                <a:latin typeface="Consolas" panose="020B0609020204030204" pitchFamily="49" charset="0"/>
              </a:rPr>
              <a:t>// </a:t>
            </a:r>
            <a:r>
              <a:rPr lang="en-ID" b="1" dirty="0" err="1">
                <a:latin typeface="Consolas" panose="020B0609020204030204" pitchFamily="49" charset="0"/>
              </a:rPr>
              <a:t>pengisian</a:t>
            </a:r>
            <a:r>
              <a:rPr lang="en-ID" b="1" dirty="0">
                <a:latin typeface="Consolas" panose="020B0609020204030204" pitchFamily="49" charset="0"/>
              </a:rPr>
              <a:t> </a:t>
            </a:r>
            <a:r>
              <a:rPr lang="en-ID" b="1" dirty="0" err="1">
                <a:latin typeface="Consolas" panose="020B0609020204030204" pitchFamily="49" charset="0"/>
              </a:rPr>
              <a:t>sekaligus</a:t>
            </a:r>
            <a:r>
              <a:rPr lang="en-ID" b="1" dirty="0">
                <a:latin typeface="Consolas" panose="020B0609020204030204" pitchFamily="49" charset="0"/>
              </a:rPr>
              <a:t> </a:t>
            </a:r>
            <a:r>
              <a:rPr lang="en-ID" b="1" dirty="0" err="1">
                <a:latin typeface="Consolas" panose="020B0609020204030204" pitchFamily="49" charset="0"/>
              </a:rPr>
              <a:t>sisa</a:t>
            </a:r>
            <a:r>
              <a:rPr lang="en-ID" b="1" dirty="0">
                <a:latin typeface="Consolas" panose="020B0609020204030204" pitchFamily="49" charset="0"/>
              </a:rPr>
              <a:t> </a:t>
            </a:r>
            <a:r>
              <a:rPr lang="en-ID" b="1" dirty="0" err="1">
                <a:latin typeface="Consolas" panose="020B0609020204030204" pitchFamily="49" charset="0"/>
              </a:rPr>
              <a:t>bagi</a:t>
            </a:r>
            <a:r>
              <a:rPr lang="en-ID" b="1" dirty="0">
                <a:latin typeface="Consolas" panose="020B0609020204030204" pitchFamily="49" charset="0"/>
              </a:rPr>
              <a:t> </a:t>
            </a:r>
            <a:r>
              <a:rPr lang="en-ID" b="1" dirty="0" err="1">
                <a:latin typeface="Consolas" panose="020B0609020204030204" pitchFamily="49" charset="0"/>
              </a:rPr>
              <a:t>atau</a:t>
            </a:r>
            <a:r>
              <a:rPr lang="en-ID" b="1" dirty="0">
                <a:latin typeface="Consolas" panose="020B0609020204030204" pitchFamily="49" charset="0"/>
              </a:rPr>
              <a:t> modulus</a:t>
            </a:r>
            <a:r>
              <a:rPr lang="en-ID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ID" dirty="0">
                <a:latin typeface="Consolas" panose="020B0609020204030204" pitchFamily="49" charset="0"/>
              </a:rPr>
              <a:t>    b %= a; </a:t>
            </a:r>
            <a:r>
              <a:rPr lang="en-ID" b="1" dirty="0">
                <a:latin typeface="Consolas" panose="020B0609020204030204" pitchFamily="49" charset="0"/>
              </a:rPr>
              <a:t>// </a:t>
            </a:r>
            <a:r>
              <a:rPr lang="en-ID" b="1" dirty="0" err="1">
                <a:latin typeface="Consolas" panose="020B0609020204030204" pitchFamily="49" charset="0"/>
              </a:rPr>
              <a:t>ini</a:t>
            </a:r>
            <a:r>
              <a:rPr lang="en-ID" b="1" dirty="0">
                <a:latin typeface="Consolas" panose="020B0609020204030204" pitchFamily="49" charset="0"/>
              </a:rPr>
              <a:t> </a:t>
            </a:r>
            <a:r>
              <a:rPr lang="en-ID" b="1" dirty="0" err="1">
                <a:latin typeface="Consolas" panose="020B0609020204030204" pitchFamily="49" charset="0"/>
              </a:rPr>
              <a:t>sama</a:t>
            </a:r>
            <a:r>
              <a:rPr lang="en-ID" b="1" dirty="0">
                <a:latin typeface="Consolas" panose="020B0609020204030204" pitchFamily="49" charset="0"/>
              </a:rPr>
              <a:t> </a:t>
            </a:r>
            <a:r>
              <a:rPr lang="en-ID" b="1" dirty="0" err="1">
                <a:latin typeface="Consolas" panose="020B0609020204030204" pitchFamily="49" charset="0"/>
              </a:rPr>
              <a:t>seperti</a:t>
            </a:r>
            <a:r>
              <a:rPr lang="en-ID" b="1" dirty="0">
                <a:latin typeface="Consolas" panose="020B0609020204030204" pitchFamily="49" charset="0"/>
              </a:rPr>
              <a:t> b = b % a </a:t>
            </a:r>
          </a:p>
          <a:p>
            <a:pPr marL="0" indent="0">
              <a:buNone/>
            </a:pPr>
            <a:r>
              <a:rPr lang="en-ID" dirty="0">
                <a:latin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"Hasil b %= a </a:t>
            </a:r>
            <a:r>
              <a:rPr lang="en-US" dirty="0" err="1">
                <a:latin typeface="Consolas" panose="020B0609020204030204" pitchFamily="49" charset="0"/>
              </a:rPr>
              <a:t>adalah</a:t>
            </a:r>
            <a:r>
              <a:rPr lang="en-US" dirty="0">
                <a:latin typeface="Consolas" panose="020B0609020204030204" pitchFamily="49" charset="0"/>
              </a:rPr>
              <a:t> " &lt;&lt; b &lt;&lt; </a:t>
            </a:r>
            <a:r>
              <a:rPr lang="en-US" dirty="0" err="1">
                <a:latin typeface="Consolas" panose="020B0609020204030204" pitchFamily="49" charset="0"/>
              </a:rPr>
              <a:t>endl</a:t>
            </a:r>
            <a:r>
              <a:rPr lang="en-US" dirty="0">
                <a:latin typeface="Consolas" panose="020B0609020204030204" pitchFamily="49" charset="0"/>
              </a:rPr>
              <a:t>;</a:t>
            </a:r>
            <a:endParaRPr lang="en-ID" dirty="0"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1BCB0A-63C1-FC5A-1075-AC5718F0F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4311" y="1506071"/>
            <a:ext cx="3600747" cy="148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1356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3CBB76-E17C-06B5-F884-AD69699E7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</a:t>
            </a:r>
            <a:r>
              <a:rPr lang="en-US" dirty="0" err="1"/>
              <a:t>Pembanding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8DA71-8200-E966-E314-9747D80F0B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4"/>
            <a:ext cx="7886700" cy="4844117"/>
          </a:xfrm>
        </p:spPr>
        <p:txBody>
          <a:bodyPr>
            <a:normAutofit fontScale="85000" lnSpcReduction="20000"/>
          </a:bodyPr>
          <a:lstStyle/>
          <a:p>
            <a:r>
              <a:rPr lang="en-ID" dirty="0"/>
              <a:t>Operator </a:t>
            </a:r>
            <a:r>
              <a:rPr lang="en-ID" dirty="0" err="1"/>
              <a:t>pembanding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operator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memabndingkan</a:t>
            </a:r>
            <a:r>
              <a:rPr lang="en-ID" dirty="0"/>
              <a:t> dua </a:t>
            </a:r>
            <a:r>
              <a:rPr lang="en-ID" dirty="0" err="1"/>
              <a:t>buah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. Operator </a:t>
            </a:r>
            <a:r>
              <a:rPr lang="en-ID" dirty="0" err="1"/>
              <a:t>ini</a:t>
            </a:r>
            <a:r>
              <a:rPr lang="en-ID" dirty="0"/>
              <a:t> juga </a:t>
            </a:r>
            <a:r>
              <a:rPr lang="en-ID" dirty="0" err="1"/>
              <a:t>dikenal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operator </a:t>
            </a:r>
            <a:r>
              <a:rPr lang="en-ID" dirty="0" err="1"/>
              <a:t>relasi</a:t>
            </a:r>
            <a:r>
              <a:rPr lang="en-ID" dirty="0"/>
              <a:t>. </a:t>
            </a:r>
          </a:p>
          <a:p>
            <a:r>
              <a:rPr lang="en-ID" dirty="0"/>
              <a:t>Operator </a:t>
            </a:r>
            <a:r>
              <a:rPr lang="en-ID" dirty="0" err="1"/>
              <a:t>pembanding</a:t>
            </a:r>
            <a:r>
              <a:rPr lang="en-ID" dirty="0"/>
              <a:t> </a:t>
            </a:r>
            <a:r>
              <a:rPr lang="en-ID" dirty="0" err="1"/>
              <a:t>terdiri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:</a:t>
            </a:r>
          </a:p>
          <a:p>
            <a:pPr lvl="1"/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&gt; )</a:t>
            </a:r>
          </a:p>
          <a:p>
            <a:pPr lvl="1"/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kecil</a:t>
            </a:r>
            <a:r>
              <a:rPr lang="en-ID" dirty="0"/>
              <a:t>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 &lt; )</a:t>
            </a:r>
          </a:p>
          <a:p>
            <a:pPr lvl="1"/>
            <a:r>
              <a:rPr lang="en-ID" dirty="0"/>
              <a:t>Sama </a:t>
            </a:r>
            <a:r>
              <a:rPr lang="en-ID" dirty="0" err="1"/>
              <a:t>dengan</a:t>
            </a:r>
            <a:r>
              <a:rPr lang="en-ID" dirty="0"/>
              <a:t>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== )</a:t>
            </a:r>
          </a:p>
          <a:p>
            <a:pPr lvl="1"/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!= )</a:t>
            </a:r>
          </a:p>
          <a:p>
            <a:pPr lvl="1"/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&gt;= )</a:t>
            </a:r>
          </a:p>
          <a:p>
            <a:pPr lvl="1"/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kecil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&lt;= )</a:t>
            </a:r>
          </a:p>
          <a:p>
            <a:r>
              <a:rPr lang="en-ID" dirty="0"/>
              <a:t>Nilai yang </a:t>
            </a:r>
            <a:r>
              <a:rPr lang="en-ID" dirty="0" err="1"/>
              <a:t>dihasilkan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operasi</a:t>
            </a:r>
            <a:r>
              <a:rPr lang="en-ID" dirty="0"/>
              <a:t> </a:t>
            </a:r>
            <a:r>
              <a:rPr lang="en-ID" dirty="0" err="1"/>
              <a:t>pembanding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berupa</a:t>
            </a:r>
            <a:r>
              <a:rPr lang="en-ID" dirty="0"/>
              <a:t> true dan false. </a:t>
            </a:r>
          </a:p>
          <a:p>
            <a:r>
              <a:rPr lang="en-ID" dirty="0"/>
              <a:t>Pada </a:t>
            </a:r>
            <a:r>
              <a:rPr lang="en-ID" dirty="0" err="1"/>
              <a:t>bahasa</a:t>
            </a:r>
            <a:r>
              <a:rPr lang="en-ID" dirty="0"/>
              <a:t> C++, </a:t>
            </a:r>
            <a:r>
              <a:rPr lang="en-ID" dirty="0" err="1"/>
              <a:t>nilai</a:t>
            </a:r>
            <a:r>
              <a:rPr lang="en-ID" dirty="0"/>
              <a:t> true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1 dan false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sama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0.</a:t>
            </a:r>
          </a:p>
          <a:p>
            <a:r>
              <a:rPr lang="en-ID" dirty="0"/>
              <a:t>Operator </a:t>
            </a:r>
            <a:r>
              <a:rPr lang="en-ID" dirty="0" err="1"/>
              <a:t>perbandingan</a:t>
            </a:r>
            <a:r>
              <a:rPr lang="en-ID" dirty="0"/>
              <a:t> </a:t>
            </a:r>
            <a:r>
              <a:rPr lang="en-ID" dirty="0" err="1"/>
              <a:t>biasanya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saat</a:t>
            </a:r>
            <a:r>
              <a:rPr lang="en-ID" dirty="0"/>
              <a:t> </a:t>
            </a:r>
            <a:r>
              <a:rPr lang="en-ID" dirty="0" err="1"/>
              <a:t>membuat</a:t>
            </a:r>
            <a:r>
              <a:rPr lang="en-ID" dirty="0"/>
              <a:t> </a:t>
            </a:r>
            <a:r>
              <a:rPr lang="en-ID" dirty="0" err="1"/>
              <a:t>percabangan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88090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940D-704B-31DC-A190-1ED5CC10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96165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 dirty="0"/>
              <a:t> operator </a:t>
            </a:r>
            <a:r>
              <a:rPr lang="en-US" dirty="0" err="1"/>
              <a:t>pembanding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622E6-5ACC-06DD-24C6-B9E0ADBEC2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488140"/>
            <a:ext cx="7886700" cy="536985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D" sz="1600" dirty="0">
                <a:latin typeface="Consolas" panose="020B0609020204030204" pitchFamily="49" charset="0"/>
              </a:rPr>
              <a:t>int a = 4, b = 3; </a:t>
            </a:r>
          </a:p>
          <a:p>
            <a:pPr marL="0" indent="0">
              <a:buNone/>
            </a:pPr>
            <a:r>
              <a:rPr lang="en-ID" sz="1600" dirty="0">
                <a:latin typeface="Consolas" panose="020B0609020204030204" pitchFamily="49" charset="0"/>
              </a:rPr>
              <a:t>bool </a:t>
            </a:r>
            <a:r>
              <a:rPr lang="en-ID" sz="1600" dirty="0" err="1">
                <a:latin typeface="Consolas" panose="020B0609020204030204" pitchFamily="49" charset="0"/>
              </a:rPr>
              <a:t>hasil</a:t>
            </a:r>
            <a:r>
              <a:rPr lang="en-ID" sz="1600" dirty="0"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ID" sz="1600" dirty="0" err="1">
                <a:latin typeface="Consolas" panose="020B0609020204030204" pitchFamily="49" charset="0"/>
              </a:rPr>
              <a:t>cout</a:t>
            </a:r>
            <a:r>
              <a:rPr lang="en-ID" sz="1600" dirty="0">
                <a:latin typeface="Consolas" panose="020B0609020204030204" pitchFamily="49" charset="0"/>
              </a:rPr>
              <a:t> &lt;&lt; "a = " &lt;&lt; a &lt;&lt; </a:t>
            </a:r>
            <a:r>
              <a:rPr lang="en-ID" sz="1600" dirty="0" err="1">
                <a:latin typeface="Consolas" panose="020B0609020204030204" pitchFamily="49" charset="0"/>
              </a:rPr>
              <a:t>endl</a:t>
            </a:r>
            <a:r>
              <a:rPr lang="en-ID" sz="1600" dirty="0"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ID" sz="1600" dirty="0" err="1">
                <a:latin typeface="Consolas" panose="020B0609020204030204" pitchFamily="49" charset="0"/>
              </a:rPr>
              <a:t>cout</a:t>
            </a:r>
            <a:r>
              <a:rPr lang="en-ID" sz="1600" dirty="0">
                <a:latin typeface="Consolas" panose="020B0609020204030204" pitchFamily="49" charset="0"/>
              </a:rPr>
              <a:t> &lt;&lt; "b = " &lt;&lt; b &lt;&lt; </a:t>
            </a:r>
            <a:r>
              <a:rPr lang="en-ID" sz="1600" dirty="0" err="1">
                <a:latin typeface="Consolas" panose="020B0609020204030204" pitchFamily="49" charset="0"/>
              </a:rPr>
              <a:t>endl</a:t>
            </a:r>
            <a:r>
              <a:rPr lang="en-ID" sz="1600" dirty="0"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ID" sz="1600" b="1" dirty="0">
                <a:latin typeface="Consolas" panose="020B0609020204030204" pitchFamily="49" charset="0"/>
              </a:rPr>
              <a:t>// </a:t>
            </a:r>
            <a:r>
              <a:rPr lang="en-ID" sz="1600" b="1" dirty="0" err="1">
                <a:latin typeface="Consolas" panose="020B0609020204030204" pitchFamily="49" charset="0"/>
              </a:rPr>
              <a:t>menggunakan</a:t>
            </a:r>
            <a:r>
              <a:rPr lang="en-ID" sz="1600" b="1" dirty="0">
                <a:latin typeface="Consolas" panose="020B0609020204030204" pitchFamily="49" charset="0"/>
              </a:rPr>
              <a:t> operator </a:t>
            </a:r>
            <a:r>
              <a:rPr lang="en-ID" sz="1600" b="1" dirty="0" err="1">
                <a:latin typeface="Consolas" panose="020B0609020204030204" pitchFamily="49" charset="0"/>
              </a:rPr>
              <a:t>pembanding</a:t>
            </a:r>
            <a:r>
              <a:rPr lang="en-ID" sz="1600" b="1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ID" sz="1600" dirty="0" err="1">
                <a:latin typeface="Consolas" panose="020B0609020204030204" pitchFamily="49" charset="0"/>
              </a:rPr>
              <a:t>hasil</a:t>
            </a:r>
            <a:r>
              <a:rPr lang="en-ID" sz="1600" dirty="0">
                <a:latin typeface="Consolas" panose="020B0609020204030204" pitchFamily="49" charset="0"/>
              </a:rPr>
              <a:t> = a &gt; b; </a:t>
            </a:r>
          </a:p>
          <a:p>
            <a:pPr marL="0" indent="0">
              <a:buNone/>
            </a:pPr>
            <a:r>
              <a:rPr lang="en-ID" sz="1600" dirty="0" err="1">
                <a:latin typeface="Consolas" panose="020B0609020204030204" pitchFamily="49" charset="0"/>
              </a:rPr>
              <a:t>cout</a:t>
            </a:r>
            <a:r>
              <a:rPr lang="en-ID" sz="1600" dirty="0">
                <a:latin typeface="Consolas" panose="020B0609020204030204" pitchFamily="49" charset="0"/>
              </a:rPr>
              <a:t> &lt;&lt; "a &gt; b = " &lt;&lt; </a:t>
            </a:r>
            <a:r>
              <a:rPr lang="en-ID" sz="1600" dirty="0" err="1">
                <a:latin typeface="Consolas" panose="020B0609020204030204" pitchFamily="49" charset="0"/>
              </a:rPr>
              <a:t>hasil</a:t>
            </a:r>
            <a:r>
              <a:rPr lang="en-ID" sz="1600" dirty="0">
                <a:latin typeface="Consolas" panose="020B0609020204030204" pitchFamily="49" charset="0"/>
              </a:rPr>
              <a:t> &lt;&lt; </a:t>
            </a:r>
            <a:r>
              <a:rPr lang="en-ID" sz="1600" dirty="0" err="1">
                <a:latin typeface="Consolas" panose="020B0609020204030204" pitchFamily="49" charset="0"/>
              </a:rPr>
              <a:t>endl</a:t>
            </a:r>
            <a:r>
              <a:rPr lang="en-ID" sz="1600" dirty="0"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ID" sz="1600" dirty="0" err="1">
                <a:latin typeface="Consolas" panose="020B0609020204030204" pitchFamily="49" charset="0"/>
              </a:rPr>
              <a:t>hasil</a:t>
            </a:r>
            <a:r>
              <a:rPr lang="en-ID" sz="1600" dirty="0">
                <a:latin typeface="Consolas" panose="020B0609020204030204" pitchFamily="49" charset="0"/>
              </a:rPr>
              <a:t> = a &lt; b; </a:t>
            </a:r>
          </a:p>
          <a:p>
            <a:pPr marL="0" indent="0">
              <a:buNone/>
            </a:pPr>
            <a:r>
              <a:rPr lang="en-ID" sz="1600" dirty="0" err="1">
                <a:latin typeface="Consolas" panose="020B0609020204030204" pitchFamily="49" charset="0"/>
              </a:rPr>
              <a:t>cout</a:t>
            </a:r>
            <a:r>
              <a:rPr lang="en-ID" sz="1600" dirty="0">
                <a:latin typeface="Consolas" panose="020B0609020204030204" pitchFamily="49" charset="0"/>
              </a:rPr>
              <a:t> &lt;&lt; "a &lt; b = " &lt;&lt; </a:t>
            </a:r>
            <a:r>
              <a:rPr lang="en-ID" sz="1600" dirty="0" err="1">
                <a:latin typeface="Consolas" panose="020B0609020204030204" pitchFamily="49" charset="0"/>
              </a:rPr>
              <a:t>hasil</a:t>
            </a:r>
            <a:r>
              <a:rPr lang="en-ID" sz="1600" dirty="0">
                <a:latin typeface="Consolas" panose="020B0609020204030204" pitchFamily="49" charset="0"/>
              </a:rPr>
              <a:t> &lt;&lt; </a:t>
            </a:r>
            <a:r>
              <a:rPr lang="en-ID" sz="1600" dirty="0" err="1">
                <a:latin typeface="Consolas" panose="020B0609020204030204" pitchFamily="49" charset="0"/>
              </a:rPr>
              <a:t>endl</a:t>
            </a:r>
            <a:r>
              <a:rPr lang="en-ID" sz="1600" dirty="0"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ID" sz="1600" dirty="0" err="1">
                <a:latin typeface="Consolas" panose="020B0609020204030204" pitchFamily="49" charset="0"/>
              </a:rPr>
              <a:t>hasil</a:t>
            </a:r>
            <a:r>
              <a:rPr lang="en-ID" sz="1600" dirty="0">
                <a:latin typeface="Consolas" panose="020B0609020204030204" pitchFamily="49" charset="0"/>
              </a:rPr>
              <a:t> = a &gt;= b; </a:t>
            </a:r>
          </a:p>
          <a:p>
            <a:pPr marL="0" indent="0">
              <a:buNone/>
            </a:pPr>
            <a:r>
              <a:rPr lang="en-ID" sz="1600" dirty="0" err="1">
                <a:latin typeface="Consolas" panose="020B0609020204030204" pitchFamily="49" charset="0"/>
              </a:rPr>
              <a:t>cout</a:t>
            </a:r>
            <a:r>
              <a:rPr lang="en-ID" sz="1600" dirty="0">
                <a:latin typeface="Consolas" panose="020B0609020204030204" pitchFamily="49" charset="0"/>
              </a:rPr>
              <a:t> &lt;&lt; "a &gt;= b = " &lt;&lt; </a:t>
            </a:r>
            <a:r>
              <a:rPr lang="en-ID" sz="1600" dirty="0" err="1">
                <a:latin typeface="Consolas" panose="020B0609020204030204" pitchFamily="49" charset="0"/>
              </a:rPr>
              <a:t>hasil</a:t>
            </a:r>
            <a:r>
              <a:rPr lang="en-ID" sz="1600" dirty="0">
                <a:latin typeface="Consolas" panose="020B0609020204030204" pitchFamily="49" charset="0"/>
              </a:rPr>
              <a:t> &lt;&lt; </a:t>
            </a:r>
            <a:r>
              <a:rPr lang="en-ID" sz="1600" dirty="0" err="1">
                <a:latin typeface="Consolas" panose="020B0609020204030204" pitchFamily="49" charset="0"/>
              </a:rPr>
              <a:t>endl</a:t>
            </a:r>
            <a:r>
              <a:rPr lang="en-ID" sz="1600" dirty="0"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ID" sz="1600" dirty="0" err="1">
                <a:latin typeface="Consolas" panose="020B0609020204030204" pitchFamily="49" charset="0"/>
              </a:rPr>
              <a:t>hasil</a:t>
            </a:r>
            <a:r>
              <a:rPr lang="en-ID" sz="1600" dirty="0">
                <a:latin typeface="Consolas" panose="020B0609020204030204" pitchFamily="49" charset="0"/>
              </a:rPr>
              <a:t> = a &lt;= b; </a:t>
            </a:r>
          </a:p>
          <a:p>
            <a:pPr marL="0" indent="0">
              <a:buNone/>
            </a:pPr>
            <a:r>
              <a:rPr lang="en-ID" sz="1600" dirty="0" err="1">
                <a:latin typeface="Consolas" panose="020B0609020204030204" pitchFamily="49" charset="0"/>
              </a:rPr>
              <a:t>cout</a:t>
            </a:r>
            <a:r>
              <a:rPr lang="en-ID" sz="1600" dirty="0">
                <a:latin typeface="Consolas" panose="020B0609020204030204" pitchFamily="49" charset="0"/>
              </a:rPr>
              <a:t> &lt;&lt; "a &lt;= b = " &lt;&lt; </a:t>
            </a:r>
            <a:r>
              <a:rPr lang="en-ID" sz="1600" dirty="0" err="1">
                <a:latin typeface="Consolas" panose="020B0609020204030204" pitchFamily="49" charset="0"/>
              </a:rPr>
              <a:t>hasil</a:t>
            </a:r>
            <a:r>
              <a:rPr lang="en-ID" sz="1600" dirty="0">
                <a:latin typeface="Consolas" panose="020B0609020204030204" pitchFamily="49" charset="0"/>
              </a:rPr>
              <a:t> &lt;&lt; </a:t>
            </a:r>
            <a:r>
              <a:rPr lang="en-ID" sz="1600" dirty="0" err="1">
                <a:latin typeface="Consolas" panose="020B0609020204030204" pitchFamily="49" charset="0"/>
              </a:rPr>
              <a:t>endl</a:t>
            </a:r>
            <a:r>
              <a:rPr lang="en-ID" sz="1600" dirty="0"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ID" sz="1600" dirty="0" err="1">
                <a:latin typeface="Consolas" panose="020B0609020204030204" pitchFamily="49" charset="0"/>
              </a:rPr>
              <a:t>hasil</a:t>
            </a:r>
            <a:r>
              <a:rPr lang="en-ID" sz="1600" dirty="0">
                <a:latin typeface="Consolas" panose="020B0609020204030204" pitchFamily="49" charset="0"/>
              </a:rPr>
              <a:t> = a == b; </a:t>
            </a:r>
          </a:p>
          <a:p>
            <a:pPr marL="0" indent="0">
              <a:buNone/>
            </a:pPr>
            <a:r>
              <a:rPr lang="en-ID" sz="1600" dirty="0" err="1">
                <a:latin typeface="Consolas" panose="020B0609020204030204" pitchFamily="49" charset="0"/>
              </a:rPr>
              <a:t>cout</a:t>
            </a:r>
            <a:r>
              <a:rPr lang="en-ID" sz="1600" dirty="0">
                <a:latin typeface="Consolas" panose="020B0609020204030204" pitchFamily="49" charset="0"/>
              </a:rPr>
              <a:t> &lt;&lt; "a == b = " &lt;&lt; </a:t>
            </a:r>
            <a:r>
              <a:rPr lang="en-ID" sz="1600" dirty="0" err="1">
                <a:latin typeface="Consolas" panose="020B0609020204030204" pitchFamily="49" charset="0"/>
              </a:rPr>
              <a:t>hasil</a:t>
            </a:r>
            <a:r>
              <a:rPr lang="en-ID" sz="1600" dirty="0">
                <a:latin typeface="Consolas" panose="020B0609020204030204" pitchFamily="49" charset="0"/>
              </a:rPr>
              <a:t> &lt;&lt; </a:t>
            </a:r>
            <a:r>
              <a:rPr lang="en-ID" sz="1600" dirty="0" err="1">
                <a:latin typeface="Consolas" panose="020B0609020204030204" pitchFamily="49" charset="0"/>
              </a:rPr>
              <a:t>endl</a:t>
            </a:r>
            <a:r>
              <a:rPr lang="en-ID" sz="1600" dirty="0"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ID" sz="1600" dirty="0" err="1">
                <a:latin typeface="Consolas" panose="020B0609020204030204" pitchFamily="49" charset="0"/>
              </a:rPr>
              <a:t>hasil</a:t>
            </a:r>
            <a:r>
              <a:rPr lang="en-ID" sz="1600" dirty="0">
                <a:latin typeface="Consolas" panose="020B0609020204030204" pitchFamily="49" charset="0"/>
              </a:rPr>
              <a:t> = a != b; </a:t>
            </a:r>
          </a:p>
          <a:p>
            <a:pPr marL="0" indent="0">
              <a:buNone/>
            </a:pPr>
            <a:r>
              <a:rPr lang="en-ID" sz="1600" dirty="0" err="1">
                <a:latin typeface="Consolas" panose="020B0609020204030204" pitchFamily="49" charset="0"/>
              </a:rPr>
              <a:t>cout</a:t>
            </a:r>
            <a:r>
              <a:rPr lang="en-ID" sz="1600" dirty="0">
                <a:latin typeface="Consolas" panose="020B0609020204030204" pitchFamily="49" charset="0"/>
              </a:rPr>
              <a:t> &lt;&lt; "a != b = " &lt;&lt; </a:t>
            </a:r>
            <a:r>
              <a:rPr lang="en-ID" sz="1600" dirty="0" err="1">
                <a:latin typeface="Consolas" panose="020B0609020204030204" pitchFamily="49" charset="0"/>
              </a:rPr>
              <a:t>hasil</a:t>
            </a:r>
            <a:r>
              <a:rPr lang="en-ID" sz="1600" dirty="0">
                <a:latin typeface="Consolas" panose="020B0609020204030204" pitchFamily="49" charset="0"/>
              </a:rPr>
              <a:t> &lt;&lt; </a:t>
            </a:r>
            <a:r>
              <a:rPr lang="en-ID" sz="1600" dirty="0" err="1">
                <a:latin typeface="Consolas" panose="020B0609020204030204" pitchFamily="49" charset="0"/>
              </a:rPr>
              <a:t>endl</a:t>
            </a:r>
            <a:r>
              <a:rPr lang="en-ID" sz="1600" dirty="0"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0573D8-0C72-0861-9F39-64A1A6E1A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2024" y="1418737"/>
            <a:ext cx="1503326" cy="201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4391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5B07F-9522-864B-D494-7E1DB2C20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 </a:t>
            </a:r>
            <a:r>
              <a:rPr lang="en-US" dirty="0" err="1"/>
              <a:t>Logika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05E1D-144E-907E-E93A-7D2D39BF5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06072"/>
            <a:ext cx="7886700" cy="512781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Operator </a:t>
            </a:r>
            <a:r>
              <a:rPr lang="en-US" dirty="0" err="1"/>
              <a:t>logika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memanipulasi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kebenaran</a:t>
            </a:r>
            <a:r>
              <a:rPr lang="en-US" dirty="0"/>
              <a:t> (Boolean) yang </a:t>
            </a:r>
            <a:r>
              <a:rPr lang="en-US" dirty="0" err="1"/>
              <a:t>umumnya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menggabungkan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membandingkan</a:t>
            </a:r>
            <a:r>
              <a:rPr lang="en-US" dirty="0"/>
              <a:t> </a:t>
            </a:r>
            <a:r>
              <a:rPr lang="en-US" dirty="0" err="1"/>
              <a:t>kondisi-kondisi</a:t>
            </a:r>
            <a:r>
              <a:rPr lang="en-US" dirty="0"/>
              <a:t> </a:t>
            </a:r>
            <a:r>
              <a:rPr lang="en-US" dirty="0" err="1"/>
              <a:t>berdasarkan</a:t>
            </a:r>
            <a:r>
              <a:rPr lang="en-US" dirty="0"/>
              <a:t> </a:t>
            </a:r>
            <a:r>
              <a:rPr lang="en-US" dirty="0" err="1"/>
              <a:t>nilai</a:t>
            </a:r>
            <a:r>
              <a:rPr lang="en-US" dirty="0"/>
              <a:t> </a:t>
            </a:r>
            <a:r>
              <a:rPr lang="en-US" dirty="0" err="1"/>
              <a:t>kebenaran</a:t>
            </a:r>
            <a:r>
              <a:rPr lang="en-US" dirty="0"/>
              <a:t>. </a:t>
            </a:r>
            <a:r>
              <a:rPr lang="en-US" dirty="0" err="1"/>
              <a:t>Beberapa</a:t>
            </a:r>
            <a:r>
              <a:rPr lang="en-US" dirty="0"/>
              <a:t> operator </a:t>
            </a:r>
            <a:r>
              <a:rPr lang="en-US" dirty="0" err="1"/>
              <a:t>logika</a:t>
            </a:r>
            <a:r>
              <a:rPr lang="en-US" dirty="0"/>
              <a:t> yang </a:t>
            </a:r>
            <a:r>
              <a:rPr lang="en-US" dirty="0" err="1"/>
              <a:t>umum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ID" dirty="0"/>
              <a:t>:</a:t>
            </a:r>
          </a:p>
          <a:p>
            <a:pPr lvl="1"/>
            <a:r>
              <a:rPr lang="en-ID" dirty="0"/>
              <a:t>AND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</a:t>
            </a:r>
            <a:r>
              <a:rPr lang="en-ID" b="1" dirty="0"/>
              <a:t>&amp;&amp;</a:t>
            </a:r>
            <a:r>
              <a:rPr lang="en-ID" dirty="0"/>
              <a:t>)</a:t>
            </a:r>
          </a:p>
          <a:p>
            <a:pPr lvl="2"/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b="1" i="1" dirty="0"/>
              <a:t>true </a:t>
            </a:r>
            <a:r>
              <a:rPr lang="en-ID" dirty="0" err="1"/>
              <a:t>jika</a:t>
            </a:r>
            <a:r>
              <a:rPr lang="en-ID" dirty="0"/>
              <a:t> </a:t>
            </a:r>
            <a:r>
              <a:rPr lang="en-ID" dirty="0" err="1"/>
              <a:t>kedua</a:t>
            </a:r>
            <a:r>
              <a:rPr lang="en-ID" dirty="0"/>
              <a:t> operand </a:t>
            </a:r>
            <a:r>
              <a:rPr lang="en-ID" dirty="0" err="1"/>
              <a:t>bernilai</a:t>
            </a:r>
            <a:r>
              <a:rPr lang="en-ID" dirty="0"/>
              <a:t> </a:t>
            </a:r>
            <a:r>
              <a:rPr lang="en-ID" b="1" i="1" dirty="0"/>
              <a:t>true</a:t>
            </a:r>
          </a:p>
          <a:p>
            <a:pPr lvl="2"/>
            <a:r>
              <a:rPr lang="en-ID" dirty="0" err="1"/>
              <a:t>Contoh</a:t>
            </a:r>
            <a:r>
              <a:rPr lang="en-ID" dirty="0"/>
              <a:t>: a&amp;&amp;b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b="1" i="1" dirty="0"/>
              <a:t>true </a:t>
            </a:r>
            <a:r>
              <a:rPr lang="en-ID" dirty="0" err="1"/>
              <a:t>jika</a:t>
            </a:r>
            <a:r>
              <a:rPr lang="en-ID" dirty="0"/>
              <a:t> a dan b </a:t>
            </a:r>
            <a:r>
              <a:rPr lang="en-ID" dirty="0" err="1"/>
              <a:t>bernilai</a:t>
            </a:r>
            <a:r>
              <a:rPr lang="en-ID" dirty="0"/>
              <a:t> </a:t>
            </a:r>
            <a:r>
              <a:rPr lang="en-ID" b="1" i="1" dirty="0"/>
              <a:t>true</a:t>
            </a:r>
          </a:p>
          <a:p>
            <a:pPr lvl="1"/>
            <a:r>
              <a:rPr lang="en-ID" dirty="0"/>
              <a:t>OR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</a:t>
            </a:r>
            <a:r>
              <a:rPr lang="en-ID" b="1" dirty="0"/>
              <a:t>II</a:t>
            </a:r>
            <a:r>
              <a:rPr lang="en-ID" dirty="0"/>
              <a:t>)</a:t>
            </a:r>
          </a:p>
          <a:p>
            <a:pPr lvl="2"/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b="1" i="1" dirty="0"/>
              <a:t>true </a:t>
            </a:r>
            <a:r>
              <a:rPr lang="en-ID" dirty="0" err="1"/>
              <a:t>jika</a:t>
            </a:r>
            <a:r>
              <a:rPr lang="en-ID" dirty="0"/>
              <a:t> salah </a:t>
            </a:r>
            <a:r>
              <a:rPr lang="en-ID" dirty="0" err="1"/>
              <a:t>satu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kedua</a:t>
            </a:r>
            <a:r>
              <a:rPr lang="en-ID" dirty="0"/>
              <a:t> operand </a:t>
            </a:r>
            <a:r>
              <a:rPr lang="en-ID" dirty="0" err="1"/>
              <a:t>bernilai</a:t>
            </a:r>
            <a:r>
              <a:rPr lang="en-ID" dirty="0"/>
              <a:t> </a:t>
            </a:r>
            <a:r>
              <a:rPr lang="en-ID" b="1" i="1" dirty="0"/>
              <a:t>true</a:t>
            </a:r>
          </a:p>
          <a:p>
            <a:pPr lvl="2"/>
            <a:r>
              <a:rPr lang="en-ID" dirty="0" err="1"/>
              <a:t>Contoh</a:t>
            </a:r>
            <a:r>
              <a:rPr lang="en-ID" dirty="0"/>
              <a:t>: </a:t>
            </a:r>
            <a:r>
              <a:rPr lang="en-ID" dirty="0" err="1"/>
              <a:t>aIIb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b="1" i="1" dirty="0"/>
              <a:t>true </a:t>
            </a:r>
            <a:r>
              <a:rPr lang="en-ID" dirty="0" err="1"/>
              <a:t>jika</a:t>
            </a:r>
            <a:r>
              <a:rPr lang="en-ID" dirty="0"/>
              <a:t> a </a:t>
            </a:r>
            <a:r>
              <a:rPr lang="en-ID" dirty="0" err="1"/>
              <a:t>atau</a:t>
            </a:r>
            <a:r>
              <a:rPr lang="en-ID" dirty="0"/>
              <a:t> b (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keduanya</a:t>
            </a:r>
            <a:r>
              <a:rPr lang="en-ID" dirty="0"/>
              <a:t>) </a:t>
            </a:r>
            <a:r>
              <a:rPr lang="en-ID" dirty="0" err="1"/>
              <a:t>bernilai</a:t>
            </a:r>
            <a:r>
              <a:rPr lang="en-ID" dirty="0"/>
              <a:t> </a:t>
            </a:r>
            <a:r>
              <a:rPr lang="en-ID" b="1" i="1" dirty="0"/>
              <a:t>true</a:t>
            </a:r>
            <a:endParaRPr lang="en-ID" dirty="0"/>
          </a:p>
          <a:p>
            <a:pPr lvl="1"/>
            <a:r>
              <a:rPr lang="en-ID" dirty="0"/>
              <a:t>Not / </a:t>
            </a:r>
            <a:r>
              <a:rPr lang="en-ID" dirty="0" err="1"/>
              <a:t>negasi</a:t>
            </a:r>
            <a:r>
              <a:rPr lang="en-ID" dirty="0"/>
              <a:t> / </a:t>
            </a:r>
            <a:r>
              <a:rPr lang="en-ID" dirty="0" err="1"/>
              <a:t>kebalikan</a:t>
            </a:r>
            <a:r>
              <a:rPr lang="en-ID" dirty="0"/>
              <a:t> (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simbol</a:t>
            </a:r>
            <a:r>
              <a:rPr lang="en-ID" dirty="0"/>
              <a:t> </a:t>
            </a:r>
            <a:r>
              <a:rPr lang="en-ID" b="1" dirty="0"/>
              <a:t>! </a:t>
            </a:r>
            <a:r>
              <a:rPr lang="en-ID" dirty="0"/>
              <a:t>)</a:t>
            </a:r>
          </a:p>
          <a:p>
            <a:pPr lvl="2"/>
            <a:r>
              <a:rPr lang="en-ID" dirty="0" err="1"/>
              <a:t>Membalikkan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operand</a:t>
            </a:r>
            <a:endParaRPr lang="en-ID" b="1" i="1" dirty="0"/>
          </a:p>
          <a:p>
            <a:pPr lvl="2"/>
            <a:r>
              <a:rPr lang="en-ID" dirty="0" err="1"/>
              <a:t>Contoh</a:t>
            </a:r>
            <a:r>
              <a:rPr lang="en-ID" dirty="0"/>
              <a:t>: !a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nilai</a:t>
            </a:r>
            <a:r>
              <a:rPr lang="en-ID" dirty="0"/>
              <a:t> </a:t>
            </a:r>
            <a:r>
              <a:rPr lang="en-ID" b="1" i="1" dirty="0"/>
              <a:t>false </a:t>
            </a:r>
            <a:r>
              <a:rPr lang="en-ID" dirty="0" err="1"/>
              <a:t>jika</a:t>
            </a:r>
            <a:r>
              <a:rPr lang="en-ID" dirty="0"/>
              <a:t> a </a:t>
            </a:r>
            <a:r>
              <a:rPr lang="en-ID" dirty="0" err="1"/>
              <a:t>bernilai</a:t>
            </a:r>
            <a:r>
              <a:rPr lang="en-ID" dirty="0"/>
              <a:t> </a:t>
            </a:r>
            <a:r>
              <a:rPr lang="en-ID" b="1" i="1" dirty="0"/>
              <a:t>true</a:t>
            </a:r>
          </a:p>
        </p:txBody>
      </p:sp>
    </p:spTree>
    <p:extLst>
      <p:ext uri="{BB962C8B-B14F-4D97-AF65-F5344CB8AC3E}">
        <p14:creationId xmlns:p14="http://schemas.microsoft.com/office/powerpoint/2010/main" val="1643377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5B07F-9522-864B-D494-7E1DB2C20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Penggunaan</a:t>
            </a:r>
            <a:r>
              <a:rPr lang="en-US" dirty="0"/>
              <a:t> operator </a:t>
            </a:r>
            <a:r>
              <a:rPr lang="en-US" dirty="0" err="1"/>
              <a:t>Logika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05E1D-144E-907E-E93A-7D2D39BF5B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82588"/>
            <a:ext cx="7886700" cy="475129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int a = 1; </a:t>
            </a:r>
            <a:r>
              <a:rPr lang="en-US" b="1" dirty="0">
                <a:latin typeface="Consolas" panose="020B0609020204030204" pitchFamily="49" charset="0"/>
              </a:rPr>
              <a:t>// 1 </a:t>
            </a:r>
            <a:r>
              <a:rPr lang="en-US" b="1" dirty="0" err="1">
                <a:latin typeface="Consolas" panose="020B0609020204030204" pitchFamily="49" charset="0"/>
              </a:rPr>
              <a:t>bernilai</a:t>
            </a:r>
            <a:r>
              <a:rPr lang="en-US" b="1" dirty="0">
                <a:latin typeface="Consolas" panose="020B0609020204030204" pitchFamily="49" charset="0"/>
              </a:rPr>
              <a:t> true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int b = 0; </a:t>
            </a:r>
            <a:r>
              <a:rPr lang="en-US" b="1" dirty="0">
                <a:latin typeface="Consolas" panose="020B0609020204030204" pitchFamily="49" charset="0"/>
              </a:rPr>
              <a:t>// 0 </a:t>
            </a:r>
            <a:r>
              <a:rPr lang="en-US" b="1" dirty="0" err="1">
                <a:latin typeface="Consolas" panose="020B0609020204030204" pitchFamily="49" charset="0"/>
              </a:rPr>
              <a:t>bernilai</a:t>
            </a:r>
            <a:r>
              <a:rPr lang="en-US" b="1" dirty="0">
                <a:latin typeface="Consolas" panose="020B0609020204030204" pitchFamily="49" charset="0"/>
              </a:rPr>
              <a:t> false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bool </a:t>
            </a:r>
            <a:r>
              <a:rPr lang="en-US" dirty="0" err="1">
                <a:latin typeface="Consolas" panose="020B0609020204030204" pitchFamily="49" charset="0"/>
              </a:rPr>
              <a:t>hasil</a:t>
            </a:r>
            <a:r>
              <a:rPr lang="en-US" dirty="0"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"a = " &lt;&lt; a &lt;&lt; </a:t>
            </a:r>
            <a:r>
              <a:rPr lang="en-US" dirty="0" err="1">
                <a:latin typeface="Consolas" panose="020B0609020204030204" pitchFamily="49" charset="0"/>
              </a:rPr>
              <a:t>endl</a:t>
            </a:r>
            <a:r>
              <a:rPr lang="en-US" dirty="0"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cout</a:t>
            </a:r>
            <a:r>
              <a:rPr lang="en-US" dirty="0">
                <a:latin typeface="Consolas" panose="020B0609020204030204" pitchFamily="49" charset="0"/>
              </a:rPr>
              <a:t> &lt;&lt; "b = " &lt;&lt; b &lt;&lt; </a:t>
            </a:r>
            <a:r>
              <a:rPr lang="en-US" dirty="0" err="1">
                <a:latin typeface="Consolas" panose="020B0609020204030204" pitchFamily="49" charset="0"/>
              </a:rPr>
              <a:t>endl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ID" b="1" dirty="0">
                <a:latin typeface="Consolas" panose="020B0609020204030204" pitchFamily="49" charset="0"/>
              </a:rPr>
              <a:t>// </a:t>
            </a:r>
            <a:r>
              <a:rPr lang="en-ID" b="1" dirty="0" err="1">
                <a:latin typeface="Consolas" panose="020B0609020204030204" pitchFamily="49" charset="0"/>
              </a:rPr>
              <a:t>logika</a:t>
            </a:r>
            <a:r>
              <a:rPr lang="en-ID" b="1" dirty="0">
                <a:latin typeface="Consolas" panose="020B0609020204030204" pitchFamily="49" charset="0"/>
              </a:rPr>
              <a:t> AND </a:t>
            </a:r>
          </a:p>
          <a:p>
            <a:pPr marL="0" indent="0">
              <a:buNone/>
            </a:pPr>
            <a:r>
              <a:rPr lang="en-ID" dirty="0" err="1">
                <a:latin typeface="Consolas" panose="020B0609020204030204" pitchFamily="49" charset="0"/>
              </a:rPr>
              <a:t>hasil</a:t>
            </a:r>
            <a:r>
              <a:rPr lang="en-ID" dirty="0">
                <a:latin typeface="Consolas" panose="020B0609020204030204" pitchFamily="49" charset="0"/>
              </a:rPr>
              <a:t> = a &amp;&amp; b; </a:t>
            </a:r>
          </a:p>
          <a:p>
            <a:pPr marL="0" indent="0">
              <a:buNone/>
            </a:pPr>
            <a:r>
              <a:rPr lang="en-ID" dirty="0" err="1">
                <a:latin typeface="Consolas" panose="020B0609020204030204" pitchFamily="49" charset="0"/>
              </a:rPr>
              <a:t>cout</a:t>
            </a:r>
            <a:r>
              <a:rPr lang="en-ID" dirty="0">
                <a:latin typeface="Consolas" panose="020B0609020204030204" pitchFamily="49" charset="0"/>
              </a:rPr>
              <a:t> &lt;&lt; "a &amp;&amp; b = " &lt;&lt; </a:t>
            </a:r>
            <a:r>
              <a:rPr lang="en-ID" dirty="0" err="1">
                <a:latin typeface="Consolas" panose="020B0609020204030204" pitchFamily="49" charset="0"/>
              </a:rPr>
              <a:t>hasil</a:t>
            </a:r>
            <a:r>
              <a:rPr lang="en-ID" dirty="0">
                <a:latin typeface="Consolas" panose="020B0609020204030204" pitchFamily="49" charset="0"/>
              </a:rPr>
              <a:t> &lt;&lt; </a:t>
            </a:r>
            <a:r>
              <a:rPr lang="en-ID" dirty="0" err="1">
                <a:latin typeface="Consolas" panose="020B0609020204030204" pitchFamily="49" charset="0"/>
              </a:rPr>
              <a:t>endl</a:t>
            </a:r>
            <a:r>
              <a:rPr lang="en-ID" dirty="0"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ID" b="1" dirty="0">
                <a:latin typeface="Consolas" panose="020B0609020204030204" pitchFamily="49" charset="0"/>
              </a:rPr>
              <a:t>// </a:t>
            </a:r>
            <a:r>
              <a:rPr lang="en-ID" b="1" dirty="0" err="1">
                <a:latin typeface="Consolas" panose="020B0609020204030204" pitchFamily="49" charset="0"/>
              </a:rPr>
              <a:t>logika</a:t>
            </a:r>
            <a:r>
              <a:rPr lang="en-ID" b="1" dirty="0">
                <a:latin typeface="Consolas" panose="020B0609020204030204" pitchFamily="49" charset="0"/>
              </a:rPr>
              <a:t> OR </a:t>
            </a:r>
          </a:p>
          <a:p>
            <a:pPr marL="0" indent="0">
              <a:buNone/>
            </a:pPr>
            <a:r>
              <a:rPr lang="en-ID" dirty="0" err="1">
                <a:latin typeface="Consolas" panose="020B0609020204030204" pitchFamily="49" charset="0"/>
              </a:rPr>
              <a:t>hasil</a:t>
            </a:r>
            <a:r>
              <a:rPr lang="en-ID" dirty="0">
                <a:latin typeface="Consolas" panose="020B0609020204030204" pitchFamily="49" charset="0"/>
              </a:rPr>
              <a:t> = a || b; </a:t>
            </a:r>
          </a:p>
          <a:p>
            <a:pPr marL="0" indent="0">
              <a:buNone/>
            </a:pPr>
            <a:r>
              <a:rPr lang="en-ID" dirty="0" err="1">
                <a:latin typeface="Consolas" panose="020B0609020204030204" pitchFamily="49" charset="0"/>
              </a:rPr>
              <a:t>cout</a:t>
            </a:r>
            <a:r>
              <a:rPr lang="en-ID" dirty="0">
                <a:latin typeface="Consolas" panose="020B0609020204030204" pitchFamily="49" charset="0"/>
              </a:rPr>
              <a:t> &lt;&lt; "a || b = " &lt;&lt; </a:t>
            </a:r>
            <a:r>
              <a:rPr lang="en-ID" dirty="0" err="1">
                <a:latin typeface="Consolas" panose="020B0609020204030204" pitchFamily="49" charset="0"/>
              </a:rPr>
              <a:t>hasil</a:t>
            </a:r>
            <a:r>
              <a:rPr lang="en-ID" dirty="0">
                <a:latin typeface="Consolas" panose="020B0609020204030204" pitchFamily="49" charset="0"/>
              </a:rPr>
              <a:t> &lt;&lt; </a:t>
            </a:r>
            <a:r>
              <a:rPr lang="en-ID" dirty="0" err="1">
                <a:latin typeface="Consolas" panose="020B0609020204030204" pitchFamily="49" charset="0"/>
              </a:rPr>
              <a:t>endl</a:t>
            </a:r>
            <a:r>
              <a:rPr lang="en-ID" dirty="0">
                <a:latin typeface="Consolas" panose="020B0609020204030204" pitchFamily="49" charset="0"/>
              </a:rPr>
              <a:t>; </a:t>
            </a:r>
          </a:p>
          <a:p>
            <a:pPr marL="0" indent="0">
              <a:buNone/>
            </a:pPr>
            <a:r>
              <a:rPr lang="en-ID" b="1" dirty="0">
                <a:latin typeface="Consolas" panose="020B0609020204030204" pitchFamily="49" charset="0"/>
              </a:rPr>
              <a:t>// </a:t>
            </a:r>
            <a:r>
              <a:rPr lang="en-ID" b="1" dirty="0" err="1">
                <a:latin typeface="Consolas" panose="020B0609020204030204" pitchFamily="49" charset="0"/>
              </a:rPr>
              <a:t>logika</a:t>
            </a:r>
            <a:r>
              <a:rPr lang="en-ID" b="1" dirty="0">
                <a:latin typeface="Consolas" panose="020B0609020204030204" pitchFamily="49" charset="0"/>
              </a:rPr>
              <a:t> NOT </a:t>
            </a:r>
          </a:p>
          <a:p>
            <a:pPr marL="0" indent="0">
              <a:buNone/>
            </a:pPr>
            <a:r>
              <a:rPr lang="en-ID" dirty="0" err="1">
                <a:latin typeface="Consolas" panose="020B0609020204030204" pitchFamily="49" charset="0"/>
              </a:rPr>
              <a:t>cout</a:t>
            </a:r>
            <a:r>
              <a:rPr lang="en-ID" dirty="0">
                <a:latin typeface="Consolas" panose="020B0609020204030204" pitchFamily="49" charset="0"/>
              </a:rPr>
              <a:t> &lt;&lt; "!a = " &lt;&lt; !a &lt;&lt; </a:t>
            </a:r>
            <a:r>
              <a:rPr lang="en-ID" dirty="0" err="1">
                <a:latin typeface="Consolas" panose="020B0609020204030204" pitchFamily="49" charset="0"/>
              </a:rPr>
              <a:t>endl</a:t>
            </a:r>
            <a:r>
              <a:rPr lang="en-ID" dirty="0">
                <a:latin typeface="Consolas" panose="020B0609020204030204" pitchFamily="49" charset="0"/>
              </a:rPr>
              <a:t>;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3B361D-60DB-6B2F-200D-E0B79866E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0363" y="1900518"/>
            <a:ext cx="1639482" cy="163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5695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273</TotalTime>
  <Words>1095</Words>
  <Application>Microsoft Office PowerPoint</Application>
  <PresentationFormat>On-screen Show (4:3)</PresentationFormat>
  <Paragraphs>145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Consolas</vt:lpstr>
      <vt:lpstr>Office Theme</vt:lpstr>
      <vt:lpstr>Algoritma dan Pemrograman II</vt:lpstr>
      <vt:lpstr>Ekspresi</vt:lpstr>
      <vt:lpstr>Operator</vt:lpstr>
      <vt:lpstr>Operator</vt:lpstr>
      <vt:lpstr>Operator</vt:lpstr>
      <vt:lpstr>Operator Aritmatika</vt:lpstr>
      <vt:lpstr>Contoh Penggunaan operator aritmatika</vt:lpstr>
      <vt:lpstr>Operator Penugasan (Assignment Operator)</vt:lpstr>
      <vt:lpstr>Contoh Penggunaan operator Penugasan</vt:lpstr>
      <vt:lpstr>Operator Pembanding</vt:lpstr>
      <vt:lpstr>Contoh Penggunaan operator pembanding</vt:lpstr>
      <vt:lpstr>Operator Logika</vt:lpstr>
      <vt:lpstr>Contoh Penggunaan operator Logika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Algoritma dan Pemrograman II</dc:title>
  <dc:creator>Vicky Segu</dc:creator>
  <cp:lastModifiedBy>Vicky Segu</cp:lastModifiedBy>
  <cp:revision>4</cp:revision>
  <dcterms:created xsi:type="dcterms:W3CDTF">2024-05-01T03:34:28Z</dcterms:created>
  <dcterms:modified xsi:type="dcterms:W3CDTF">2025-11-07T00:57:24Z</dcterms:modified>
</cp:coreProperties>
</file>